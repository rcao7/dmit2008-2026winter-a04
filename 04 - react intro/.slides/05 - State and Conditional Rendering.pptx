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5143500" cx="9144000"/>
  <p:notesSz cx="6858000" cy="9144000"/>
  <p:embeddedFontLst>
    <p:embeddedFont>
      <p:font typeface="Roboto Slab"/>
      <p:regular r:id="rId19"/>
      <p:bold r:id="rId20"/>
    </p:embeddedFont>
    <p:embeddedFont>
      <p:font typeface="Roboto"/>
      <p:regular r:id="rId21"/>
      <p:bold r:id="rId22"/>
      <p:italic r:id="rId23"/>
      <p:boldItalic r:id="rId24"/>
    </p:embeddedFont>
    <p:embeddedFont>
      <p:font typeface="Roboto Mon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Slab-bold.fntdata"/><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Mono-bold.fntdata"/><Relationship Id="rId25" Type="http://schemas.openxmlformats.org/officeDocument/2006/relationships/font" Target="fonts/RobotoMono-regular.fntdata"/><Relationship Id="rId28" Type="http://schemas.openxmlformats.org/officeDocument/2006/relationships/font" Target="fonts/RobotoMono-boldItalic.fntdata"/><Relationship Id="rId27" Type="http://schemas.openxmlformats.org/officeDocument/2006/relationships/font" Target="fonts/RobotoMono-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RobotoSlab-regular.fntdata"/><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5ad3a4879e_2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5ad3a4879e_2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4c141908b7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4c141908b7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80fb9f6395_4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80fb9f6395_4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81620d828e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81620d828e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81620d828e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81620d828e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81620d828e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81620d828e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81620d828e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81620d828e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8186affff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8186affff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8186affff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8186affff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5737a5a0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15737a5a0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5737a5a0f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5737a5a0f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7bc0a4b21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7bc0a4b21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7b7fcc6223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7b7fcc622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jsbin.com/xetaxar/edit?html,js,console,output" TargetMode="External"/><Relationship Id="rId4" Type="http://schemas.openxmlformats.org/officeDocument/2006/relationships/hyperlink" Target="https://jsbin.com/luqihed/edit?html,js,console,output" TargetMode="External"/><Relationship Id="rId5" Type="http://schemas.openxmlformats.org/officeDocument/2006/relationships/hyperlink" Target="https://reactjs.org/docs/handling-events.html" TargetMode="External"/><Relationship Id="rId6" Type="http://schemas.openxmlformats.org/officeDocument/2006/relationships/hyperlink" Target="https://reactjs.org/docs/events.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jsbin.com/luqihed/edit?html,js,console,output" TargetMode="External"/><Relationship Id="rId4" Type="http://schemas.openxmlformats.org/officeDocument/2006/relationships/hyperlink" Target="https://jsbin.com/luqihed/edit?html,js,console,output" TargetMode="External"/><Relationship Id="rId5" Type="http://schemas.openxmlformats.org/officeDocument/2006/relationships/hyperlink" Target="https://jsbin.com/luqihed/edit?html,js,console,output" TargetMode="External"/><Relationship Id="rId6" Type="http://schemas.openxmlformats.org/officeDocument/2006/relationships/hyperlink" Target="https://jsbin.com/xetaxar/edit?html,js,console,outpu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jsfiddle.net/dgmouris/ucLz3aj0/8/"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jsfiddle.net/dgmouris/oa7rh82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hyperlink" Target="https://jsfiddle.net/dgmouris/d1a8sc5v/15/"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hyperlink" Target="https://jsfiddle.net/dgmouris/uabdyh9g/3/"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reactjs.org/docs/hooks-state.html" TargetMode="External"/><Relationship Id="rId4" Type="http://schemas.openxmlformats.org/officeDocument/2006/relationships/hyperlink" Target="https://reactjs.org/docs/hooks-intro.html" TargetMode="External"/><Relationship Id="rId5" Type="http://schemas.openxmlformats.org/officeDocument/2006/relationships/hyperlink" Target="https://reactjs.org/docs/state-and-lifecycle.html" TargetMode="External"/><Relationship Id="rId6" Type="http://schemas.openxmlformats.org/officeDocument/2006/relationships/hyperlink" Target="https://reactjs.org/docs/handling-events.html" TargetMode="External"/><Relationship Id="rId7" Type="http://schemas.openxmlformats.org/officeDocument/2006/relationships/hyperlink" Target="https://reactjs.org/docs/events.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28877" y="1219800"/>
            <a:ext cx="5783400" cy="14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Events and React State Fundamentals</a:t>
            </a:r>
            <a:endParaRPr/>
          </a:p>
        </p:txBody>
      </p:sp>
      <p:sp>
        <p:nvSpPr>
          <p:cNvPr id="64" name="Google Shape;64;p13"/>
          <p:cNvSpPr txBox="1"/>
          <p:nvPr>
            <p:ph idx="1" type="subTitle"/>
          </p:nvPr>
        </p:nvSpPr>
        <p:spPr>
          <a:xfrm>
            <a:off x="1680302" y="3049450"/>
            <a:ext cx="5783400" cy="90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Javascript DMIT 2008</a:t>
            </a:r>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480750" y="1764950"/>
            <a:ext cx="8222100" cy="90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Announcements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248400" y="1440025"/>
            <a:ext cx="4045200" cy="1506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Where are we?</a:t>
            </a:r>
            <a:endParaRPr/>
          </a:p>
        </p:txBody>
      </p:sp>
      <p:sp>
        <p:nvSpPr>
          <p:cNvPr id="75" name="Google Shape;75;p15"/>
          <p:cNvSpPr txBox="1"/>
          <p:nvPr>
            <p:ph idx="2" type="body"/>
          </p:nvPr>
        </p:nvSpPr>
        <p:spPr>
          <a:xfrm>
            <a:off x="4937025" y="724200"/>
            <a:ext cx="4297200" cy="3695100"/>
          </a:xfrm>
          <a:prstGeom prst="rect">
            <a:avLst/>
          </a:prstGeom>
        </p:spPr>
        <p:txBody>
          <a:bodyPr anchorCtr="0" anchor="ctr" bIns="91425" lIns="91425" spcFirstLastPara="1" rIns="91425" wrap="square" tIns="91425">
            <a:noAutofit/>
          </a:bodyPr>
          <a:lstStyle/>
          <a:p>
            <a:pPr indent="-330200" lvl="0" marL="457200" rtl="0" algn="l">
              <a:spcBef>
                <a:spcPts val="0"/>
              </a:spcBef>
              <a:spcAft>
                <a:spcPts val="0"/>
              </a:spcAft>
              <a:buSzPts val="1600"/>
              <a:buAutoNum type="arabicPeriod"/>
            </a:pPr>
            <a:r>
              <a:rPr lang="en" sz="1600"/>
              <a:t>Expectations</a:t>
            </a:r>
            <a:endParaRPr sz="1600"/>
          </a:p>
          <a:p>
            <a:pPr indent="-330200" lvl="0" marL="457200" rtl="0" algn="l">
              <a:spcBef>
                <a:spcPts val="0"/>
              </a:spcBef>
              <a:spcAft>
                <a:spcPts val="0"/>
              </a:spcAft>
              <a:buSzPts val="1600"/>
              <a:buAutoNum type="arabicPeriod"/>
            </a:pPr>
            <a:r>
              <a:rPr lang="en" sz="1600"/>
              <a:t>Events</a:t>
            </a:r>
            <a:endParaRPr sz="1600"/>
          </a:p>
          <a:p>
            <a:pPr indent="-330200" lvl="1" marL="914400" rtl="0" algn="l">
              <a:spcBef>
                <a:spcPts val="0"/>
              </a:spcBef>
              <a:spcAft>
                <a:spcPts val="0"/>
              </a:spcAft>
              <a:buSzPts val="1600"/>
              <a:buAutoNum type="alphaLcPeriod"/>
            </a:pPr>
            <a:r>
              <a:rPr lang="en" sz="1600"/>
              <a:t>Introduction</a:t>
            </a:r>
            <a:endParaRPr sz="1600"/>
          </a:p>
          <a:p>
            <a:pPr indent="-330200" lvl="1" marL="914400" rtl="0" algn="l">
              <a:spcBef>
                <a:spcPts val="0"/>
              </a:spcBef>
              <a:spcAft>
                <a:spcPts val="0"/>
              </a:spcAft>
              <a:buSzPts val="1600"/>
              <a:buAutoNum type="alphaLcPeriod"/>
            </a:pPr>
            <a:r>
              <a:rPr lang="en" sz="1600"/>
              <a:t>Examples</a:t>
            </a:r>
            <a:endParaRPr sz="1600"/>
          </a:p>
          <a:p>
            <a:pPr indent="-330200" lvl="0" marL="457200" rtl="0" algn="l">
              <a:spcBef>
                <a:spcPts val="0"/>
              </a:spcBef>
              <a:spcAft>
                <a:spcPts val="0"/>
              </a:spcAft>
              <a:buSzPts val="1600"/>
              <a:buAutoNum type="arabicPeriod"/>
            </a:pPr>
            <a:r>
              <a:rPr lang="en" sz="1600"/>
              <a:t>State</a:t>
            </a:r>
            <a:endParaRPr sz="1600"/>
          </a:p>
          <a:p>
            <a:pPr indent="-330200" lvl="1" marL="914400" rtl="0" algn="l">
              <a:spcBef>
                <a:spcPts val="0"/>
              </a:spcBef>
              <a:spcAft>
                <a:spcPts val="0"/>
              </a:spcAft>
              <a:buSzPts val="1600"/>
              <a:buAutoNum type="alphaLcPeriod"/>
            </a:pPr>
            <a:r>
              <a:rPr lang="en" sz="1600"/>
              <a:t>What is that?</a:t>
            </a:r>
            <a:endParaRPr sz="1600"/>
          </a:p>
          <a:p>
            <a:pPr indent="-330200" lvl="1" marL="914400" rtl="0" algn="l">
              <a:spcBef>
                <a:spcPts val="0"/>
              </a:spcBef>
              <a:spcAft>
                <a:spcPts val="0"/>
              </a:spcAft>
              <a:buSzPts val="1600"/>
              <a:buAutoNum type="alphaLcPeriod"/>
            </a:pPr>
            <a:r>
              <a:rPr lang="en" sz="1600"/>
              <a:t>Hooks and how they Work.</a:t>
            </a:r>
            <a:endParaRPr sz="1600"/>
          </a:p>
          <a:p>
            <a:pPr indent="-330200" lvl="1" marL="914400" rtl="0" algn="l">
              <a:spcBef>
                <a:spcPts val="0"/>
              </a:spcBef>
              <a:spcAft>
                <a:spcPts val="0"/>
              </a:spcAft>
              <a:buSzPts val="1600"/>
              <a:buAutoNum type="alphaLcPeriod"/>
            </a:pPr>
            <a:r>
              <a:rPr lang="en" sz="1600"/>
              <a:t>Examples</a:t>
            </a:r>
            <a:endParaRPr sz="1600"/>
          </a:p>
          <a:p>
            <a:pPr indent="-330200" lvl="0" marL="457200" rtl="0" algn="l">
              <a:spcBef>
                <a:spcPts val="0"/>
              </a:spcBef>
              <a:spcAft>
                <a:spcPts val="0"/>
              </a:spcAft>
              <a:buSzPts val="1600"/>
              <a:buAutoNum type="arabicPeriod"/>
            </a:pPr>
            <a:r>
              <a:rPr lang="en" sz="1600"/>
              <a:t>JSX Conditionals</a:t>
            </a:r>
            <a:endParaRPr sz="1600"/>
          </a:p>
          <a:p>
            <a:pPr indent="-330200" lvl="1" marL="914400" rtl="0" algn="l">
              <a:spcBef>
                <a:spcPts val="0"/>
              </a:spcBef>
              <a:spcAft>
                <a:spcPts val="0"/>
              </a:spcAft>
              <a:buSzPts val="1600"/>
              <a:buAutoNum type="alphaLcPeriod"/>
            </a:pPr>
            <a:r>
              <a:rPr lang="en" sz="1600"/>
              <a:t>Ternary</a:t>
            </a:r>
            <a:endParaRPr sz="1600"/>
          </a:p>
          <a:p>
            <a:pPr indent="-330200" lvl="1" marL="914400" rtl="0" algn="l">
              <a:spcBef>
                <a:spcPts val="0"/>
              </a:spcBef>
              <a:spcAft>
                <a:spcPts val="0"/>
              </a:spcAft>
              <a:buSzPts val="1600"/>
              <a:buAutoNum type="alphaLcPeriod"/>
            </a:pPr>
            <a:r>
              <a:rPr lang="en" sz="1600"/>
              <a:t>Short Circuits</a:t>
            </a:r>
            <a:endParaRPr sz="1600"/>
          </a:p>
          <a:p>
            <a:pPr indent="-330200" lvl="0" marL="457200" rtl="0" algn="l">
              <a:spcBef>
                <a:spcPts val="0"/>
              </a:spcBef>
              <a:spcAft>
                <a:spcPts val="0"/>
              </a:spcAft>
              <a:buSzPts val="1600"/>
              <a:buAutoNum type="arabicPeriod"/>
            </a:pPr>
            <a:r>
              <a:rPr lang="en" sz="1600"/>
              <a:t>Example</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Expectations - What I expect from you</a:t>
            </a:r>
            <a:endParaRPr/>
          </a:p>
        </p:txBody>
      </p:sp>
      <p:sp>
        <p:nvSpPr>
          <p:cNvPr id="81" name="Google Shape;81;p16"/>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No Late Assignments</a:t>
            </a:r>
            <a:endParaRPr/>
          </a:p>
          <a:p>
            <a:pPr indent="-342900" lvl="0" marL="457200" rtl="0" algn="l">
              <a:spcBef>
                <a:spcPts val="0"/>
              </a:spcBef>
              <a:spcAft>
                <a:spcPts val="0"/>
              </a:spcAft>
              <a:buSzPts val="1800"/>
              <a:buAutoNum type="arabicPeriod"/>
            </a:pPr>
            <a:r>
              <a:rPr lang="en"/>
              <a:t>No Cheating</a:t>
            </a:r>
            <a:endParaRPr/>
          </a:p>
          <a:p>
            <a:pPr indent="-342900" lvl="0" marL="457200" rtl="0" algn="l">
              <a:spcBef>
                <a:spcPts val="0"/>
              </a:spcBef>
              <a:spcAft>
                <a:spcPts val="0"/>
              </a:spcAft>
              <a:buSzPts val="1800"/>
              <a:buAutoNum type="arabicPeriod"/>
            </a:pPr>
            <a:r>
              <a:rPr lang="en"/>
              <a:t>Be a good classmate</a:t>
            </a:r>
            <a:endParaRPr/>
          </a:p>
          <a:p>
            <a:pPr indent="-342900" lvl="0" marL="457200" rtl="0" algn="l">
              <a:spcBef>
                <a:spcPts val="0"/>
              </a:spcBef>
              <a:spcAft>
                <a:spcPts val="0"/>
              </a:spcAft>
              <a:buSzPts val="1800"/>
              <a:buAutoNum type="arabicPeriod"/>
            </a:pPr>
            <a:r>
              <a:rPr lang="en"/>
              <a:t>Don’t go to stupid sites in class </a:t>
            </a:r>
            <a:endParaRPr/>
          </a:p>
          <a:p>
            <a:pPr indent="-342900" lvl="0" marL="457200" rtl="0" algn="l">
              <a:spcBef>
                <a:spcPts val="0"/>
              </a:spcBef>
              <a:spcAft>
                <a:spcPts val="0"/>
              </a:spcAft>
              <a:buSzPts val="1800"/>
              <a:buAutoNum type="arabicPeriod"/>
            </a:pPr>
            <a:r>
              <a:rPr lang="en"/>
              <a:t>Show up to class </a:t>
            </a:r>
            <a:br>
              <a:rPr lang="en"/>
            </a:br>
            <a:r>
              <a:rPr lang="en"/>
              <a:t>(10 mins I shut the door. Send me a message if you show up all the time or if you get in an accident and I’ll let you in.)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Events</a:t>
            </a:r>
            <a:endParaRPr/>
          </a:p>
        </p:txBody>
      </p:sp>
      <p:sp>
        <p:nvSpPr>
          <p:cNvPr id="87" name="Google Shape;87;p17"/>
          <p:cNvSpPr txBox="1"/>
          <p:nvPr>
            <p:ph idx="1" type="body"/>
          </p:nvPr>
        </p:nvSpPr>
        <p:spPr>
          <a:xfrm>
            <a:off x="387900" y="1261225"/>
            <a:ext cx="8368200" cy="365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Before we talk about the hooks and modifying state, let's talk about react events and how they relate to javascript events.</a:t>
            </a:r>
            <a:endParaRPr sz="1400"/>
          </a:p>
          <a:p>
            <a:pPr indent="0" lvl="0" marL="0" rtl="0" algn="l">
              <a:spcBef>
                <a:spcPts val="1600"/>
              </a:spcBef>
              <a:spcAft>
                <a:spcPts val="0"/>
              </a:spcAft>
              <a:buNone/>
            </a:pPr>
            <a:r>
              <a:rPr lang="en" sz="1400"/>
              <a:t>In html you have the attributes "onclick", and "onkeyup" as well as any of the other events that you have in javascript except for "on" in front of it. ex. </a:t>
            </a:r>
            <a:endParaRPr sz="1400"/>
          </a:p>
          <a:p>
            <a:pPr indent="0" lvl="0" marL="0" rtl="0" algn="l">
              <a:spcBef>
                <a:spcPts val="1600"/>
              </a:spcBef>
              <a:spcAft>
                <a:spcPts val="0"/>
              </a:spcAft>
              <a:buNone/>
            </a:pPr>
            <a:r>
              <a:t/>
            </a:r>
            <a:endParaRPr sz="1400"/>
          </a:p>
          <a:p>
            <a:pPr indent="0" lvl="0" marL="0" rtl="0" algn="l">
              <a:spcBef>
                <a:spcPts val="1600"/>
              </a:spcBef>
              <a:spcAft>
                <a:spcPts val="1600"/>
              </a:spcAft>
              <a:buNone/>
            </a:pPr>
            <a:r>
              <a:rPr lang="en" sz="1400"/>
              <a:t>In react it's pretty similar but you use Reacts event system to create use it, as well the syntax is using camel case which triggers reacts event system.</a:t>
            </a:r>
            <a:br>
              <a:rPr lang="en" sz="1400"/>
            </a:br>
            <a:br>
              <a:rPr lang="en" sz="1400"/>
            </a:br>
            <a:br>
              <a:rPr lang="en" sz="1400"/>
            </a:br>
            <a:r>
              <a:rPr lang="en" sz="1400" u="sng">
                <a:solidFill>
                  <a:schemeClr val="hlink"/>
                </a:solidFill>
                <a:hlinkClick r:id="rId3"/>
              </a:rPr>
              <a:t>Example 1 (Seeing Button Clicks)</a:t>
            </a:r>
            <a:br>
              <a:rPr lang="en" sz="1400"/>
            </a:br>
            <a:r>
              <a:rPr lang="en" sz="1400" u="sng">
                <a:solidFill>
                  <a:schemeClr val="hlink"/>
                </a:solidFill>
                <a:hlinkClick r:id="rId4"/>
              </a:rPr>
              <a:t>Example 2 (Seeing Button Clicks)</a:t>
            </a:r>
            <a:endParaRPr sz="1400"/>
          </a:p>
        </p:txBody>
      </p:sp>
      <p:sp>
        <p:nvSpPr>
          <p:cNvPr id="88" name="Google Shape;88;p17"/>
          <p:cNvSpPr txBox="1"/>
          <p:nvPr/>
        </p:nvSpPr>
        <p:spPr>
          <a:xfrm>
            <a:off x="932475" y="2626725"/>
            <a:ext cx="6342300" cy="451500"/>
          </a:xfrm>
          <a:prstGeom prst="rect">
            <a:avLst/>
          </a:prstGeom>
          <a:noFill/>
          <a:ln>
            <a:noFill/>
          </a:ln>
        </p:spPr>
        <p:txBody>
          <a:bodyPr anchorCtr="0" anchor="t" bIns="91425" lIns="91425" spcFirstLastPara="1" rIns="91425" wrap="square" tIns="91425">
            <a:noAutofit/>
          </a:bodyPr>
          <a:lstStyle/>
          <a:p>
            <a:pPr indent="0" lvl="0" marL="0" rtl="0" algn="l">
              <a:lnSpc>
                <a:spcPct val="146739"/>
              </a:lnSpc>
              <a:spcBef>
                <a:spcPts val="0"/>
              </a:spcBef>
              <a:spcAft>
                <a:spcPts val="0"/>
              </a:spcAft>
              <a:buNone/>
            </a:pPr>
            <a:r>
              <a:rPr lang="en" sz="1150">
                <a:solidFill>
                  <a:srgbClr val="ECEFF1"/>
                </a:solidFill>
                <a:latin typeface="Roboto Mono"/>
                <a:ea typeface="Roboto Mono"/>
                <a:cs typeface="Roboto Mono"/>
                <a:sym typeface="Roboto Mono"/>
              </a:rPr>
              <a:t>&lt;button onclick=</a:t>
            </a:r>
            <a:r>
              <a:rPr lang="en" sz="1150">
                <a:solidFill>
                  <a:srgbClr val="9CCC65"/>
                </a:solidFill>
                <a:latin typeface="Roboto Mono"/>
                <a:ea typeface="Roboto Mono"/>
                <a:cs typeface="Roboto Mono"/>
                <a:sym typeface="Roboto Mono"/>
              </a:rPr>
              <a:t>"someJSFunction()"</a:t>
            </a:r>
            <a:r>
              <a:rPr lang="en" sz="1150">
                <a:solidFill>
                  <a:srgbClr val="ECEFF1"/>
                </a:solidFill>
                <a:latin typeface="Roboto Mono"/>
                <a:ea typeface="Roboto Mono"/>
                <a:cs typeface="Roboto Mono"/>
                <a:sym typeface="Roboto Mono"/>
              </a:rPr>
              <a:t>&gt;</a:t>
            </a:r>
            <a:r>
              <a:rPr lang="en" sz="1150">
                <a:solidFill>
                  <a:srgbClr val="CE93D8"/>
                </a:solidFill>
                <a:latin typeface="Roboto Mono"/>
                <a:ea typeface="Roboto Mono"/>
                <a:cs typeface="Roboto Mono"/>
                <a:sym typeface="Roboto Mono"/>
              </a:rPr>
              <a:t>Clicker</a:t>
            </a:r>
            <a:r>
              <a:rPr lang="en" sz="1150">
                <a:solidFill>
                  <a:srgbClr val="ECEFF1"/>
                </a:solidFill>
                <a:latin typeface="Roboto Mono"/>
                <a:ea typeface="Roboto Mono"/>
                <a:cs typeface="Roboto Mono"/>
                <a:sym typeface="Roboto Mono"/>
              </a:rPr>
              <a:t>&lt;/button&gt;</a:t>
            </a:r>
            <a:endParaRPr sz="1150">
              <a:solidFill>
                <a:srgbClr val="ECEFF1"/>
              </a:solidFill>
              <a:latin typeface="Roboto Mono"/>
              <a:ea typeface="Roboto Mono"/>
              <a:cs typeface="Roboto Mono"/>
              <a:sym typeface="Roboto Mono"/>
            </a:endParaRPr>
          </a:p>
        </p:txBody>
      </p:sp>
      <p:sp>
        <p:nvSpPr>
          <p:cNvPr id="89" name="Google Shape;89;p17"/>
          <p:cNvSpPr txBox="1"/>
          <p:nvPr/>
        </p:nvSpPr>
        <p:spPr>
          <a:xfrm>
            <a:off x="932475" y="3715150"/>
            <a:ext cx="6705000" cy="510600"/>
          </a:xfrm>
          <a:prstGeom prst="rect">
            <a:avLst/>
          </a:prstGeom>
          <a:noFill/>
          <a:ln>
            <a:noFill/>
          </a:ln>
        </p:spPr>
        <p:txBody>
          <a:bodyPr anchorCtr="0" anchor="t" bIns="91425" lIns="91425" spcFirstLastPara="1" rIns="91425" wrap="square" tIns="91425">
            <a:noAutofit/>
          </a:bodyPr>
          <a:lstStyle/>
          <a:p>
            <a:pPr indent="0" lvl="0" marL="0" rtl="0" algn="l">
              <a:lnSpc>
                <a:spcPct val="146739"/>
              </a:lnSpc>
              <a:spcBef>
                <a:spcPts val="0"/>
              </a:spcBef>
              <a:spcAft>
                <a:spcPts val="0"/>
              </a:spcAft>
              <a:buNone/>
            </a:pPr>
            <a:r>
              <a:rPr lang="en" sz="1150">
                <a:solidFill>
                  <a:srgbClr val="ECEFF1"/>
                </a:solidFill>
                <a:latin typeface="Roboto Mono"/>
                <a:ea typeface="Roboto Mono"/>
                <a:cs typeface="Roboto Mono"/>
                <a:sym typeface="Roboto Mono"/>
              </a:rPr>
              <a:t>&lt;button onClick={someJSFunction}&gt;</a:t>
            </a:r>
            <a:r>
              <a:rPr lang="en" sz="1150">
                <a:solidFill>
                  <a:srgbClr val="CE93D8"/>
                </a:solidFill>
                <a:latin typeface="Roboto Mono"/>
                <a:ea typeface="Roboto Mono"/>
                <a:cs typeface="Roboto Mono"/>
                <a:sym typeface="Roboto Mono"/>
              </a:rPr>
              <a:t>Clicker</a:t>
            </a:r>
            <a:r>
              <a:rPr lang="en" sz="1150">
                <a:solidFill>
                  <a:srgbClr val="ECEFF1"/>
                </a:solidFill>
                <a:latin typeface="Roboto Mono"/>
                <a:ea typeface="Roboto Mono"/>
                <a:cs typeface="Roboto Mono"/>
                <a:sym typeface="Roboto Mono"/>
              </a:rPr>
              <a:t>&lt;/button&gt;</a:t>
            </a:r>
            <a:endParaRPr sz="1150">
              <a:solidFill>
                <a:srgbClr val="ECEFF1"/>
              </a:solidFill>
              <a:latin typeface="Roboto Mono"/>
              <a:ea typeface="Roboto Mono"/>
              <a:cs typeface="Roboto Mono"/>
              <a:sym typeface="Roboto Mono"/>
            </a:endParaRPr>
          </a:p>
        </p:txBody>
      </p:sp>
      <p:sp>
        <p:nvSpPr>
          <p:cNvPr id="90" name="Google Shape;90;p17"/>
          <p:cNvSpPr txBox="1"/>
          <p:nvPr>
            <p:ph idx="1" type="body"/>
          </p:nvPr>
        </p:nvSpPr>
        <p:spPr>
          <a:xfrm>
            <a:off x="5631950" y="3963550"/>
            <a:ext cx="3276600" cy="1028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400"/>
              <a:t>Documentation:</a:t>
            </a:r>
            <a:br>
              <a:rPr lang="en" sz="1400"/>
            </a:br>
            <a:r>
              <a:rPr lang="en" sz="1400" u="sng">
                <a:solidFill>
                  <a:schemeClr val="hlink"/>
                </a:solidFill>
                <a:hlinkClick r:id="rId5"/>
              </a:rPr>
              <a:t>Handling Events in React</a:t>
            </a:r>
            <a:br>
              <a:rPr lang="en" sz="1400"/>
            </a:br>
            <a:r>
              <a:rPr lang="en" sz="1400" u="sng">
                <a:solidFill>
                  <a:schemeClr val="hlink"/>
                </a:solidFill>
                <a:hlinkClick r:id="rId6"/>
              </a:rPr>
              <a:t>Events Documentation in React</a:t>
            </a:r>
            <a:br>
              <a:rPr lang="en" sz="1400"/>
            </a:b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Events Examples</a:t>
            </a:r>
            <a:endParaRPr/>
          </a:p>
        </p:txBody>
      </p:sp>
      <p:sp>
        <p:nvSpPr>
          <p:cNvPr id="96" name="Google Shape;96;p18"/>
          <p:cNvSpPr txBox="1"/>
          <p:nvPr>
            <p:ph idx="1" type="body"/>
          </p:nvPr>
        </p:nvSpPr>
        <p:spPr>
          <a:xfrm>
            <a:off x="458850" y="1365900"/>
            <a:ext cx="3276600" cy="369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400" u="sng">
                <a:solidFill>
                  <a:schemeClr val="hlink"/>
                </a:solidFill>
                <a:hlinkClick r:id="rId3"/>
              </a:rPr>
              <a:t>Example 1</a:t>
            </a:r>
            <a:r>
              <a:rPr lang="en" sz="1400" u="sng">
                <a:solidFill>
                  <a:schemeClr val="hlink"/>
                </a:solidFill>
                <a:hlinkClick r:id="rId4"/>
              </a:rPr>
              <a:t>: Listening to Keys</a:t>
            </a:r>
            <a:br>
              <a:rPr lang="en" sz="1400" u="sng">
                <a:solidFill>
                  <a:schemeClr val="hlink"/>
                </a:solidFill>
                <a:hlinkClick r:id="rId5"/>
              </a:rPr>
            </a:br>
            <a:endParaRPr sz="1400"/>
          </a:p>
        </p:txBody>
      </p:sp>
      <p:sp>
        <p:nvSpPr>
          <p:cNvPr id="97" name="Google Shape;97;p18"/>
          <p:cNvSpPr txBox="1"/>
          <p:nvPr/>
        </p:nvSpPr>
        <p:spPr>
          <a:xfrm>
            <a:off x="498925" y="1735800"/>
            <a:ext cx="3371700" cy="234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keyUpHandler = (event) =&gt;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console.log(event.target.value);</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a:t>
            </a:r>
            <a:r>
              <a:rPr lang="en" sz="1150">
                <a:solidFill>
                  <a:srgbClr val="CE93D8"/>
                </a:solidFill>
                <a:latin typeface="Roboto Mono"/>
                <a:ea typeface="Roboto Mono"/>
                <a:cs typeface="Roboto Mono"/>
                <a:sym typeface="Roboto Mono"/>
              </a:rPr>
              <a:t>App</a:t>
            </a:r>
            <a:r>
              <a:rPr lang="en" sz="1150">
                <a:solidFill>
                  <a:srgbClr val="ECEFF1"/>
                </a:solidFill>
                <a:latin typeface="Roboto Mono"/>
                <a:ea typeface="Roboto Mono"/>
                <a:cs typeface="Roboto Mono"/>
                <a:sym typeface="Roboto Mono"/>
              </a:rPr>
              <a:t> = () =&gt;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return</a:t>
            </a:r>
            <a:r>
              <a:rPr lang="en" sz="1150">
                <a:solidFill>
                  <a:srgbClr val="ECEFF1"/>
                </a:solidFill>
                <a:latin typeface="Roboto Mono"/>
                <a:ea typeface="Roboto Mono"/>
                <a:cs typeface="Roboto Mono"/>
                <a:sym typeface="Roboto Mono"/>
              </a:rPr>
              <a:t> (&lt;div&gt;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&lt;h1&gt;</a:t>
            </a:r>
            <a:r>
              <a:rPr lang="en" sz="1150">
                <a:solidFill>
                  <a:srgbClr val="CE93D8"/>
                </a:solidFill>
                <a:latin typeface="Roboto Mono"/>
                <a:ea typeface="Roboto Mono"/>
                <a:cs typeface="Roboto Mono"/>
                <a:sym typeface="Roboto Mono"/>
              </a:rPr>
              <a:t>Second</a:t>
            </a:r>
            <a:r>
              <a:rPr lang="en" sz="1150">
                <a:solidFill>
                  <a:srgbClr val="ECEFF1"/>
                </a:solidFill>
                <a:latin typeface="Roboto Mono"/>
                <a:ea typeface="Roboto Mono"/>
                <a:cs typeface="Roboto Mono"/>
                <a:sym typeface="Roboto Mono"/>
              </a:rPr>
              <a:t> </a:t>
            </a:r>
            <a:r>
              <a:rPr lang="en" sz="1150">
                <a:solidFill>
                  <a:srgbClr val="CE93D8"/>
                </a:solidFill>
                <a:latin typeface="Roboto Mono"/>
                <a:ea typeface="Roboto Mono"/>
                <a:cs typeface="Roboto Mono"/>
                <a:sym typeface="Roboto Mono"/>
              </a:rPr>
              <a:t>Example</a:t>
            </a:r>
            <a:r>
              <a:rPr lang="en" sz="1150">
                <a:solidFill>
                  <a:srgbClr val="ECEFF1"/>
                </a:solidFill>
                <a:latin typeface="Roboto Mono"/>
                <a:ea typeface="Roboto Mono"/>
                <a:cs typeface="Roboto Mono"/>
                <a:sym typeface="Roboto Mono"/>
              </a:rPr>
              <a:t> </a:t>
            </a:r>
            <a:r>
              <a:rPr lang="en" sz="1150">
                <a:solidFill>
                  <a:srgbClr val="CE93D8"/>
                </a:solidFill>
                <a:latin typeface="Roboto Mono"/>
                <a:ea typeface="Roboto Mono"/>
                <a:cs typeface="Roboto Mono"/>
                <a:sym typeface="Roboto Mono"/>
              </a:rPr>
              <a:t>Event</a:t>
            </a:r>
            <a:r>
              <a:rPr lang="en" sz="1150">
                <a:solidFill>
                  <a:srgbClr val="ECEFF1"/>
                </a:solidFill>
                <a:latin typeface="Roboto Mono"/>
                <a:ea typeface="Roboto Mono"/>
                <a:cs typeface="Roboto Mono"/>
                <a:sym typeface="Roboto Mono"/>
              </a:rPr>
              <a:t>&lt;/h1&gt;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&lt;input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onKeyUp={keyUpHandler}</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type=</a:t>
            </a:r>
            <a:r>
              <a:rPr lang="en" sz="1150">
                <a:solidFill>
                  <a:srgbClr val="9CCC65"/>
                </a:solidFill>
                <a:latin typeface="Roboto Mono"/>
                <a:ea typeface="Roboto Mono"/>
                <a:cs typeface="Roboto Mono"/>
                <a:sym typeface="Roboto Mono"/>
              </a:rPr>
              <a:t>"text"</a:t>
            </a:r>
            <a:r>
              <a:rPr lang="en" sz="1150">
                <a:solidFill>
                  <a:srgbClr val="ECEFF1"/>
                </a:solidFill>
                <a:latin typeface="Roboto Mono"/>
                <a:ea typeface="Roboto Mono"/>
                <a:cs typeface="Roboto Mono"/>
                <a:sym typeface="Roboto Mono"/>
              </a:rPr>
              <a:t>/&gt;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&lt;/div&gt;);</a:t>
            </a:r>
            <a:endParaRPr sz="11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
        <p:nvSpPr>
          <p:cNvPr id="98" name="Google Shape;98;p18"/>
          <p:cNvSpPr txBox="1"/>
          <p:nvPr>
            <p:ph idx="1" type="body"/>
          </p:nvPr>
        </p:nvSpPr>
        <p:spPr>
          <a:xfrm>
            <a:off x="4399200" y="1365900"/>
            <a:ext cx="3276600" cy="369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400" u="sng">
                <a:solidFill>
                  <a:schemeClr val="hlink"/>
                </a:solidFill>
                <a:hlinkClick r:id="rId6"/>
              </a:rPr>
              <a:t>Example 2: Listening to clicks</a:t>
            </a:r>
            <a:endParaRPr sz="1400"/>
          </a:p>
        </p:txBody>
      </p:sp>
      <p:sp>
        <p:nvSpPr>
          <p:cNvPr id="99" name="Google Shape;99;p18"/>
          <p:cNvSpPr txBox="1"/>
          <p:nvPr/>
        </p:nvSpPr>
        <p:spPr>
          <a:xfrm>
            <a:off x="4325200" y="1735800"/>
            <a:ext cx="4619100" cy="30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linkClickHandler = (event) =&gt;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F06292"/>
                </a:solidFill>
                <a:latin typeface="Roboto Mono"/>
                <a:ea typeface="Roboto Mono"/>
                <a:cs typeface="Roboto Mono"/>
                <a:sym typeface="Roboto Mono"/>
              </a:rPr>
              <a:t>// some event methods stay the same!</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event.preventDefault();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event.stopPropagation();</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console.log(</a:t>
            </a:r>
            <a:r>
              <a:rPr lang="en" sz="1150">
                <a:solidFill>
                  <a:srgbClr val="9CCC65"/>
                </a:solidFill>
                <a:latin typeface="Roboto Mono"/>
                <a:ea typeface="Roboto Mono"/>
                <a:cs typeface="Roboto Mono"/>
                <a:sym typeface="Roboto Mono"/>
              </a:rPr>
              <a:t>"link clicked!"</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a:t>
            </a:r>
            <a:r>
              <a:rPr lang="en" sz="1150">
                <a:solidFill>
                  <a:srgbClr val="CE93D8"/>
                </a:solidFill>
                <a:latin typeface="Roboto Mono"/>
                <a:ea typeface="Roboto Mono"/>
                <a:cs typeface="Roboto Mono"/>
                <a:sym typeface="Roboto Mono"/>
              </a:rPr>
              <a:t>App</a:t>
            </a:r>
            <a:r>
              <a:rPr lang="en" sz="1150">
                <a:solidFill>
                  <a:srgbClr val="ECEFF1"/>
                </a:solidFill>
                <a:latin typeface="Roboto Mono"/>
                <a:ea typeface="Roboto Mono"/>
                <a:cs typeface="Roboto Mono"/>
                <a:sym typeface="Roboto Mono"/>
              </a:rPr>
              <a:t> = () =&gt;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return</a:t>
            </a:r>
            <a:r>
              <a:rPr lang="en" sz="1150">
                <a:solidFill>
                  <a:srgbClr val="ECEFF1"/>
                </a:solidFill>
                <a:latin typeface="Roboto Mono"/>
                <a:ea typeface="Roboto Mono"/>
                <a:cs typeface="Roboto Mono"/>
                <a:sym typeface="Roboto Mono"/>
              </a:rPr>
              <a:t> (&lt;div&gt;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&lt;h1&gt;</a:t>
            </a:r>
            <a:r>
              <a:rPr lang="en" sz="1150">
                <a:solidFill>
                  <a:srgbClr val="CE93D8"/>
                </a:solidFill>
                <a:latin typeface="Roboto Mono"/>
                <a:ea typeface="Roboto Mono"/>
                <a:cs typeface="Roboto Mono"/>
                <a:sym typeface="Roboto Mono"/>
              </a:rPr>
              <a:t>Example</a:t>
            </a: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of</a:t>
            </a:r>
            <a:r>
              <a:rPr lang="en" sz="1150">
                <a:solidFill>
                  <a:srgbClr val="ECEFF1"/>
                </a:solidFill>
                <a:latin typeface="Roboto Mono"/>
                <a:ea typeface="Roboto Mono"/>
                <a:cs typeface="Roboto Mono"/>
                <a:sym typeface="Roboto Mono"/>
              </a:rPr>
              <a:t> </a:t>
            </a:r>
            <a:r>
              <a:rPr lang="en" sz="1150">
                <a:solidFill>
                  <a:srgbClr val="CE93D8"/>
                </a:solidFill>
                <a:latin typeface="Roboto Mono"/>
                <a:ea typeface="Roboto Mono"/>
                <a:cs typeface="Roboto Mono"/>
                <a:sym typeface="Roboto Mono"/>
              </a:rPr>
              <a:t>Click</a:t>
            </a:r>
            <a:r>
              <a:rPr lang="en" sz="1150">
                <a:solidFill>
                  <a:srgbClr val="ECEFF1"/>
                </a:solidFill>
                <a:latin typeface="Roboto Mono"/>
                <a:ea typeface="Roboto Mono"/>
                <a:cs typeface="Roboto Mono"/>
                <a:sym typeface="Roboto Mono"/>
              </a:rPr>
              <a:t> events&lt;/h1&gt;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&lt;a onClick={(event) =&gt; linkClickHandler(event)}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href=</a:t>
            </a:r>
            <a:r>
              <a:rPr lang="en" sz="1150">
                <a:solidFill>
                  <a:srgbClr val="9CCC65"/>
                </a:solidFill>
                <a:latin typeface="Roboto Mono"/>
                <a:ea typeface="Roboto Mono"/>
                <a:cs typeface="Roboto Mono"/>
                <a:sym typeface="Roboto Mono"/>
              </a:rPr>
              <a:t>"https://www.nhl.com"</a:t>
            </a:r>
            <a:r>
              <a:rPr lang="en" sz="1150">
                <a:solidFill>
                  <a:srgbClr val="ECEFF1"/>
                </a:solidFill>
                <a:latin typeface="Roboto Mono"/>
                <a:ea typeface="Roboto Mono"/>
                <a:cs typeface="Roboto Mono"/>
                <a:sym typeface="Roboto Mono"/>
              </a:rPr>
              <a:t>&gt;</a:t>
            </a:r>
            <a:r>
              <a:rPr lang="en" sz="1150">
                <a:solidFill>
                  <a:srgbClr val="CE93D8"/>
                </a:solidFill>
                <a:latin typeface="Roboto Mono"/>
                <a:ea typeface="Roboto Mono"/>
                <a:cs typeface="Roboto Mono"/>
                <a:sym typeface="Roboto Mono"/>
              </a:rPr>
              <a:t>External</a:t>
            </a:r>
            <a:r>
              <a:rPr lang="en" sz="1150">
                <a:solidFill>
                  <a:srgbClr val="ECEFF1"/>
                </a:solidFill>
                <a:latin typeface="Roboto Mono"/>
                <a:ea typeface="Roboto Mono"/>
                <a:cs typeface="Roboto Mono"/>
                <a:sym typeface="Roboto Mono"/>
              </a:rPr>
              <a:t> </a:t>
            </a:r>
            <a:r>
              <a:rPr lang="en" sz="1150">
                <a:solidFill>
                  <a:srgbClr val="CE93D8"/>
                </a:solidFill>
                <a:latin typeface="Roboto Mono"/>
                <a:ea typeface="Roboto Mono"/>
                <a:cs typeface="Roboto Mono"/>
                <a:sym typeface="Roboto Mono"/>
              </a:rPr>
              <a:t>Link</a:t>
            </a:r>
            <a:r>
              <a:rPr lang="en" sz="1150">
                <a:solidFill>
                  <a:srgbClr val="ECEFF1"/>
                </a:solidFill>
                <a:latin typeface="Roboto Mono"/>
                <a:ea typeface="Roboto Mono"/>
                <a:cs typeface="Roboto Mono"/>
                <a:sym typeface="Roboto Mono"/>
              </a:rPr>
              <a:t>&lt;/a&gt;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&lt;/div&gt;);</a:t>
            </a:r>
            <a:endParaRPr sz="11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State What is that?</a:t>
            </a:r>
            <a:endParaRPr/>
          </a:p>
        </p:txBody>
      </p:sp>
      <p:sp>
        <p:nvSpPr>
          <p:cNvPr id="105" name="Google Shape;105;p19"/>
          <p:cNvSpPr txBox="1"/>
          <p:nvPr>
            <p:ph idx="1" type="body"/>
          </p:nvPr>
        </p:nvSpPr>
        <p:spPr>
          <a:xfrm>
            <a:off x="387900" y="1185024"/>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So far we've rendered elements (say for component App) on our user interface (UI) basically the same way for all of our apps so far. Just like this:</a:t>
            </a:r>
            <a:br>
              <a:rPr lang="en" sz="1400"/>
            </a:br>
            <a:br>
              <a:rPr lang="en" sz="1400"/>
            </a:br>
            <a:br>
              <a:rPr lang="en" sz="1400"/>
            </a:br>
            <a:br>
              <a:rPr lang="en" sz="1400"/>
            </a:br>
            <a:r>
              <a:rPr lang="en" sz="1400"/>
              <a:t>With this we render a static UI on a page which is great, but isn't what we want to do all the time because not all pages are static. This means that we are going to be making pages “stateful” by modifying its’ state by changing what’s rendered on the page.</a:t>
            </a:r>
            <a:endParaRPr sz="1400"/>
          </a:p>
          <a:p>
            <a:pPr indent="0" lvl="0" marL="0" rtl="0" algn="l">
              <a:spcBef>
                <a:spcPts val="1600"/>
              </a:spcBef>
              <a:spcAft>
                <a:spcPts val="0"/>
              </a:spcAft>
              <a:buNone/>
            </a:pPr>
            <a:r>
              <a:rPr lang="en" sz="1400"/>
              <a:t>We want things to change on our UI and rerender our changes if we:</a:t>
            </a:r>
            <a:endParaRPr sz="1400"/>
          </a:p>
          <a:p>
            <a:pPr indent="-317500" lvl="0" marL="457200" rtl="0" algn="l">
              <a:spcBef>
                <a:spcPts val="1600"/>
              </a:spcBef>
              <a:spcAft>
                <a:spcPts val="0"/>
              </a:spcAft>
              <a:buSzPts val="1400"/>
              <a:buChar char="●"/>
            </a:pPr>
            <a:r>
              <a:rPr lang="en" sz="1400"/>
              <a:t>make a request to a server</a:t>
            </a:r>
            <a:endParaRPr sz="1400"/>
          </a:p>
          <a:p>
            <a:pPr indent="-317500" lvl="0" marL="457200" rtl="0" algn="l">
              <a:spcBef>
                <a:spcPts val="0"/>
              </a:spcBef>
              <a:spcAft>
                <a:spcPts val="0"/>
              </a:spcAft>
              <a:buSzPts val="1400"/>
              <a:buChar char="●"/>
            </a:pPr>
            <a:r>
              <a:rPr lang="en" sz="1400"/>
              <a:t>handle an event (Which we just looked at.)</a:t>
            </a:r>
            <a:endParaRPr sz="1400"/>
          </a:p>
          <a:p>
            <a:pPr indent="-317500" lvl="0" marL="457200" rtl="0" algn="l">
              <a:spcBef>
                <a:spcPts val="0"/>
              </a:spcBef>
              <a:spcAft>
                <a:spcPts val="0"/>
              </a:spcAft>
              <a:buSzPts val="1400"/>
              <a:buChar char="●"/>
            </a:pPr>
            <a:r>
              <a:rPr lang="en" sz="1400"/>
              <a:t>data (shared between components) that changes from another component re-renders our current component (we'll talk about this in the future.)</a:t>
            </a:r>
            <a:endParaRPr sz="1400"/>
          </a:p>
          <a:p>
            <a:pPr indent="0" lvl="0" marL="0" rtl="0" algn="l">
              <a:spcBef>
                <a:spcPts val="1600"/>
              </a:spcBef>
              <a:spcAft>
                <a:spcPts val="0"/>
              </a:spcAft>
              <a:buNone/>
            </a:pPr>
            <a:r>
              <a:t/>
            </a:r>
            <a:endParaRPr sz="1400"/>
          </a:p>
          <a:p>
            <a:pPr indent="0" lvl="0" marL="0" rtl="0" algn="l">
              <a:spcBef>
                <a:spcPts val="1600"/>
              </a:spcBef>
              <a:spcAft>
                <a:spcPts val="0"/>
              </a:spcAft>
              <a:buNone/>
            </a:pPr>
            <a:r>
              <a:t/>
            </a:r>
            <a:endParaRPr sz="1400"/>
          </a:p>
          <a:p>
            <a:pPr indent="0" lvl="0" marL="0" rtl="0" algn="l">
              <a:spcBef>
                <a:spcPts val="1600"/>
              </a:spcBef>
              <a:spcAft>
                <a:spcPts val="1600"/>
              </a:spcAft>
              <a:buNone/>
            </a:pPr>
            <a:r>
              <a:t/>
            </a:r>
            <a:endParaRPr sz="1400"/>
          </a:p>
        </p:txBody>
      </p:sp>
      <p:sp>
        <p:nvSpPr>
          <p:cNvPr id="106" name="Google Shape;106;p19"/>
          <p:cNvSpPr txBox="1"/>
          <p:nvPr/>
        </p:nvSpPr>
        <p:spPr>
          <a:xfrm>
            <a:off x="821475" y="1764375"/>
            <a:ext cx="7104600" cy="55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domContainer = document.querySelector(</a:t>
            </a:r>
            <a:r>
              <a:rPr lang="en" sz="1150">
                <a:solidFill>
                  <a:srgbClr val="9CCC65"/>
                </a:solidFill>
                <a:latin typeface="Roboto Mono"/>
                <a:ea typeface="Roboto Mono"/>
                <a:cs typeface="Roboto Mono"/>
                <a:sym typeface="Roboto Mono"/>
              </a:rPr>
              <a:t>"#react-container"</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1150">
                <a:solidFill>
                  <a:srgbClr val="CE93D8"/>
                </a:solidFill>
                <a:latin typeface="Roboto Mono"/>
                <a:ea typeface="Roboto Mono"/>
                <a:cs typeface="Roboto Mono"/>
                <a:sym typeface="Roboto Mono"/>
              </a:rPr>
              <a:t>ReactDOM</a:t>
            </a:r>
            <a:r>
              <a:rPr lang="en" sz="1150">
                <a:solidFill>
                  <a:srgbClr val="ECEFF1"/>
                </a:solidFill>
                <a:latin typeface="Roboto Mono"/>
                <a:ea typeface="Roboto Mono"/>
                <a:cs typeface="Roboto Mono"/>
                <a:sym typeface="Roboto Mono"/>
              </a:rPr>
              <a:t>.render(&lt;</a:t>
            </a:r>
            <a:r>
              <a:rPr lang="en" sz="1150">
                <a:solidFill>
                  <a:srgbClr val="CE93D8"/>
                </a:solidFill>
                <a:latin typeface="Roboto Mono"/>
                <a:ea typeface="Roboto Mono"/>
                <a:cs typeface="Roboto Mono"/>
                <a:sym typeface="Roboto Mono"/>
              </a:rPr>
              <a:t>App</a:t>
            </a:r>
            <a:r>
              <a:rPr lang="en" sz="1150">
                <a:solidFill>
                  <a:srgbClr val="ECEFF1"/>
                </a:solidFill>
                <a:latin typeface="Roboto Mono"/>
                <a:ea typeface="Roboto Mono"/>
                <a:cs typeface="Roboto Mono"/>
                <a:sym typeface="Roboto Mono"/>
              </a:rPr>
              <a:t>/&gt;, domContainer);</a:t>
            </a:r>
            <a:endParaRPr sz="1150">
              <a:solidFill>
                <a:srgbClr val="ECEFF1"/>
              </a:solidFill>
              <a:latin typeface="Roboto Mono"/>
              <a:ea typeface="Roboto Mono"/>
              <a:cs typeface="Roboto Mono"/>
              <a:sym typeface="Roboto Mon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State Hooks and how they Work.</a:t>
            </a:r>
            <a:endParaRPr/>
          </a:p>
        </p:txBody>
      </p:sp>
      <p:sp>
        <p:nvSpPr>
          <p:cNvPr id="112" name="Google Shape;112;p20"/>
          <p:cNvSpPr txBox="1"/>
          <p:nvPr>
            <p:ph idx="1" type="body"/>
          </p:nvPr>
        </p:nvSpPr>
        <p:spPr>
          <a:xfrm>
            <a:off x="387900" y="1270775"/>
            <a:ext cx="8553600" cy="290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Before we just created static function based components. With use State you can create a stateful components so they will have values that update the UI.</a:t>
            </a:r>
            <a:endParaRPr sz="1200"/>
          </a:p>
          <a:p>
            <a:pPr indent="0" lvl="0" marL="0" rtl="0" algn="l">
              <a:spcBef>
                <a:spcPts val="1600"/>
              </a:spcBef>
              <a:spcAft>
                <a:spcPts val="0"/>
              </a:spcAft>
              <a:buNone/>
            </a:pPr>
            <a:r>
              <a:rPr lang="en" sz="1200"/>
              <a:t>What do they look like? All useState values will look like the following.</a:t>
            </a:r>
            <a:endParaRPr sz="1200"/>
          </a:p>
          <a:p>
            <a:pPr indent="0" lvl="0" marL="0" rtl="0" algn="l">
              <a:spcBef>
                <a:spcPts val="1600"/>
              </a:spcBef>
              <a:spcAft>
                <a:spcPts val="0"/>
              </a:spcAft>
              <a:buNone/>
            </a:pPr>
            <a:r>
              <a:t/>
            </a:r>
            <a:endParaRPr sz="1200"/>
          </a:p>
          <a:p>
            <a:pPr indent="-304800" lvl="0" marL="457200" rtl="0" algn="l">
              <a:spcBef>
                <a:spcPts val="1600"/>
              </a:spcBef>
              <a:spcAft>
                <a:spcPts val="0"/>
              </a:spcAft>
              <a:buSzPts val="1200"/>
              <a:buChar char="●"/>
            </a:pPr>
            <a:r>
              <a:rPr lang="en" sz="1200">
                <a:solidFill>
                  <a:srgbClr val="ECEFF1"/>
                </a:solidFill>
                <a:latin typeface="Roboto Mono"/>
                <a:ea typeface="Roboto Mono"/>
                <a:cs typeface="Roboto Mono"/>
                <a:sym typeface="Roboto Mono"/>
              </a:rPr>
              <a:t>inputValue</a:t>
            </a:r>
            <a:r>
              <a:rPr lang="en" sz="1200"/>
              <a:t> is the value that you're making "stateful"</a:t>
            </a:r>
            <a:endParaRPr sz="1200"/>
          </a:p>
          <a:p>
            <a:pPr indent="-304800" lvl="0" marL="457200" rtl="0" algn="l">
              <a:spcBef>
                <a:spcPts val="0"/>
              </a:spcBef>
              <a:spcAft>
                <a:spcPts val="0"/>
              </a:spcAft>
              <a:buSzPts val="1200"/>
              <a:buChar char="●"/>
            </a:pPr>
            <a:r>
              <a:rPr lang="en" sz="1200">
                <a:solidFill>
                  <a:srgbClr val="ECEFF1"/>
                </a:solidFill>
                <a:latin typeface="Roboto Mono"/>
                <a:ea typeface="Roboto Mono"/>
                <a:cs typeface="Roboto Mono"/>
                <a:sym typeface="Roboto Mono"/>
              </a:rPr>
              <a:t>setInputValue</a:t>
            </a:r>
            <a:r>
              <a:rPr lang="en" sz="1200"/>
              <a:t> is a function that allows you to set the inputValue to a new value, and how you trigger the state change.</a:t>
            </a:r>
            <a:endParaRPr sz="1200"/>
          </a:p>
          <a:p>
            <a:pPr indent="-304800" lvl="0" marL="457200" rtl="0" algn="l">
              <a:spcBef>
                <a:spcPts val="0"/>
              </a:spcBef>
              <a:spcAft>
                <a:spcPts val="0"/>
              </a:spcAft>
              <a:buSzPts val="1200"/>
              <a:buChar char="●"/>
            </a:pPr>
            <a:r>
              <a:rPr lang="en" sz="1200">
                <a:solidFill>
                  <a:srgbClr val="CE93D8"/>
                </a:solidFill>
                <a:latin typeface="Roboto Mono"/>
                <a:ea typeface="Roboto Mono"/>
                <a:cs typeface="Roboto Mono"/>
                <a:sym typeface="Roboto Mono"/>
              </a:rPr>
              <a:t>React</a:t>
            </a:r>
            <a:r>
              <a:rPr lang="en" sz="1200">
                <a:solidFill>
                  <a:srgbClr val="ECEFF1"/>
                </a:solidFill>
                <a:latin typeface="Roboto Mono"/>
                <a:ea typeface="Roboto Mono"/>
                <a:cs typeface="Roboto Mono"/>
                <a:sym typeface="Roboto Mono"/>
              </a:rPr>
              <a:t>.useState</a:t>
            </a:r>
            <a:r>
              <a:rPr lang="en" sz="1200"/>
              <a:t> (or just useState once we import it from React from ES6 classes) takes in one parameter, which is the initial value. In this example it’s: </a:t>
            </a:r>
            <a:r>
              <a:rPr lang="en" sz="1200">
                <a:solidFill>
                  <a:srgbClr val="9CCC65"/>
                </a:solidFill>
                <a:latin typeface="Roboto Mono"/>
                <a:ea typeface="Roboto Mono"/>
                <a:cs typeface="Roboto Mono"/>
                <a:sym typeface="Roboto Mono"/>
              </a:rPr>
              <a:t>"&lt;Initial Value&gt;"</a:t>
            </a:r>
            <a:r>
              <a:rPr lang="en" sz="1200"/>
              <a:t> </a:t>
            </a:r>
            <a:endParaRPr sz="1200"/>
          </a:p>
          <a:p>
            <a:pPr indent="0" lvl="0" marL="0" rtl="0" algn="l">
              <a:spcBef>
                <a:spcPts val="1600"/>
              </a:spcBef>
              <a:spcAft>
                <a:spcPts val="0"/>
              </a:spcAft>
              <a:buNone/>
            </a:pPr>
            <a:r>
              <a:rPr lang="en" sz="1200"/>
              <a:t>Rules of useState:</a:t>
            </a:r>
            <a:endParaRPr sz="1200"/>
          </a:p>
          <a:p>
            <a:pPr indent="-304800" lvl="0" marL="457200" rtl="0" algn="l">
              <a:spcBef>
                <a:spcPts val="1600"/>
              </a:spcBef>
              <a:spcAft>
                <a:spcPts val="0"/>
              </a:spcAft>
              <a:buSzPts val="1200"/>
              <a:buAutoNum type="arabicPeriod"/>
            </a:pPr>
            <a:r>
              <a:rPr lang="en" sz="1200"/>
              <a:t>You need to call </a:t>
            </a:r>
            <a:r>
              <a:rPr lang="en" sz="1200">
                <a:solidFill>
                  <a:srgbClr val="ECEFF1"/>
                </a:solidFill>
                <a:latin typeface="Roboto Mono"/>
                <a:ea typeface="Roboto Mono"/>
                <a:cs typeface="Roboto Mono"/>
                <a:sym typeface="Roboto Mono"/>
              </a:rPr>
              <a:t>useState</a:t>
            </a:r>
            <a:r>
              <a:rPr lang="en" sz="1200"/>
              <a:t> in root of the function. IE. you can't create them within a funciton or event handler.</a:t>
            </a:r>
            <a:endParaRPr sz="1200"/>
          </a:p>
          <a:p>
            <a:pPr indent="-304800" lvl="0" marL="457200" rtl="0" algn="l">
              <a:spcBef>
                <a:spcPts val="0"/>
              </a:spcBef>
              <a:spcAft>
                <a:spcPts val="0"/>
              </a:spcAft>
              <a:buSzPts val="1200"/>
              <a:buAutoNum type="arabicPeriod"/>
            </a:pPr>
            <a:r>
              <a:rPr lang="en" sz="1200"/>
              <a:t>using the "</a:t>
            </a:r>
            <a:r>
              <a:rPr lang="en" sz="1150">
                <a:solidFill>
                  <a:srgbClr val="ECEFF1"/>
                </a:solidFill>
                <a:latin typeface="Roboto Mono"/>
                <a:ea typeface="Roboto Mono"/>
                <a:cs typeface="Roboto Mono"/>
                <a:sym typeface="Roboto Mono"/>
              </a:rPr>
              <a:t>setInputValue</a:t>
            </a:r>
            <a:r>
              <a:rPr lang="en" sz="1200"/>
              <a:t>" is what you would call in your functions, event handlers, and Promises within functions.</a:t>
            </a:r>
            <a:endParaRPr sz="1200"/>
          </a:p>
          <a:p>
            <a:pPr indent="0" lvl="0" marL="0" rtl="0" algn="l">
              <a:spcBef>
                <a:spcPts val="1600"/>
              </a:spcBef>
              <a:spcAft>
                <a:spcPts val="1600"/>
              </a:spcAft>
              <a:buNone/>
            </a:pPr>
            <a:r>
              <a:t/>
            </a:r>
            <a:endParaRPr sz="1200"/>
          </a:p>
        </p:txBody>
      </p:sp>
      <p:sp>
        <p:nvSpPr>
          <p:cNvPr id="113" name="Google Shape;113;p20"/>
          <p:cNvSpPr txBox="1"/>
          <p:nvPr/>
        </p:nvSpPr>
        <p:spPr>
          <a:xfrm>
            <a:off x="458600" y="2233400"/>
            <a:ext cx="6584400" cy="331500"/>
          </a:xfrm>
          <a:prstGeom prst="rect">
            <a:avLst/>
          </a:prstGeom>
          <a:noFill/>
          <a:ln>
            <a:noFill/>
          </a:ln>
        </p:spPr>
        <p:txBody>
          <a:bodyPr anchorCtr="0" anchor="t" bIns="91425" lIns="91425" spcFirstLastPara="1" rIns="91425" wrap="square" tIns="91425">
            <a:noAutofit/>
          </a:bodyPr>
          <a:lstStyle/>
          <a:p>
            <a:pPr indent="0" lvl="0" marL="0" rtl="0" algn="l">
              <a:lnSpc>
                <a:spcPct val="146739"/>
              </a:lnSpc>
              <a:spcBef>
                <a:spcPts val="0"/>
              </a:spcBef>
              <a:spcAft>
                <a:spcPts val="0"/>
              </a:spcAft>
              <a:buNone/>
            </a:pP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[inputValue, setInputValue] = </a:t>
            </a:r>
            <a:r>
              <a:rPr lang="en" sz="1150">
                <a:solidFill>
                  <a:srgbClr val="CE93D8"/>
                </a:solidFill>
                <a:latin typeface="Roboto Mono"/>
                <a:ea typeface="Roboto Mono"/>
                <a:cs typeface="Roboto Mono"/>
                <a:sym typeface="Roboto Mono"/>
              </a:rPr>
              <a:t>React</a:t>
            </a:r>
            <a:r>
              <a:rPr lang="en" sz="1150">
                <a:solidFill>
                  <a:srgbClr val="ECEFF1"/>
                </a:solidFill>
                <a:latin typeface="Roboto Mono"/>
                <a:ea typeface="Roboto Mono"/>
                <a:cs typeface="Roboto Mono"/>
                <a:sym typeface="Roboto Mono"/>
              </a:rPr>
              <a:t>.useState(</a:t>
            </a:r>
            <a:r>
              <a:rPr lang="en" sz="1150">
                <a:solidFill>
                  <a:srgbClr val="9CCC65"/>
                </a:solidFill>
                <a:latin typeface="Roboto Mono"/>
                <a:ea typeface="Roboto Mono"/>
                <a:cs typeface="Roboto Mono"/>
                <a:sym typeface="Roboto Mono"/>
              </a:rPr>
              <a:t>"&lt;Initial Value&gt;"</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State Hook Examples 1</a:t>
            </a:r>
            <a:endParaRPr/>
          </a:p>
        </p:txBody>
      </p:sp>
      <p:sp>
        <p:nvSpPr>
          <p:cNvPr id="119" name="Google Shape;119;p21"/>
          <p:cNvSpPr txBox="1"/>
          <p:nvPr/>
        </p:nvSpPr>
        <p:spPr>
          <a:xfrm>
            <a:off x="782500" y="1736775"/>
            <a:ext cx="5305800" cy="25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a:t>
            </a:r>
            <a:r>
              <a:rPr lang="en" sz="1150">
                <a:solidFill>
                  <a:srgbClr val="CE93D8"/>
                </a:solidFill>
                <a:latin typeface="Roboto Mono"/>
                <a:ea typeface="Roboto Mono"/>
                <a:cs typeface="Roboto Mono"/>
                <a:sym typeface="Roboto Mono"/>
              </a:rPr>
              <a:t>App</a:t>
            </a:r>
            <a:r>
              <a:rPr lang="en" sz="1150">
                <a:solidFill>
                  <a:srgbClr val="ECEFF1"/>
                </a:solidFill>
                <a:latin typeface="Roboto Mono"/>
                <a:ea typeface="Roboto Mono"/>
                <a:cs typeface="Roboto Mono"/>
                <a:sym typeface="Roboto Mono"/>
              </a:rPr>
              <a:t> = () =&gt;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4DD0E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[inputValue, setInputValue] = </a:t>
            </a:r>
            <a:r>
              <a:rPr lang="en" sz="1150">
                <a:solidFill>
                  <a:srgbClr val="CE93D8"/>
                </a:solidFill>
                <a:latin typeface="Roboto Mono"/>
                <a:ea typeface="Roboto Mono"/>
                <a:cs typeface="Roboto Mono"/>
                <a:sym typeface="Roboto Mono"/>
              </a:rPr>
              <a:t>React</a:t>
            </a:r>
            <a:r>
              <a:rPr lang="en" sz="1150">
                <a:solidFill>
                  <a:srgbClr val="ECEFF1"/>
                </a:solidFill>
                <a:latin typeface="Roboto Mono"/>
                <a:ea typeface="Roboto Mono"/>
                <a:cs typeface="Roboto Mono"/>
                <a:sym typeface="Roboto Mono"/>
              </a:rPr>
              <a:t>.useState(</a:t>
            </a:r>
            <a:r>
              <a:rPr lang="en" sz="1150">
                <a:solidFill>
                  <a:srgbClr val="9CCC65"/>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keyUpHandler = (event) =&gt;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setInputValue(event.target.value);</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return</a:t>
            </a:r>
            <a:r>
              <a:rPr lang="en" sz="1150">
                <a:solidFill>
                  <a:srgbClr val="ECEFF1"/>
                </a:solidFill>
                <a:latin typeface="Roboto Mono"/>
                <a:ea typeface="Roboto Mono"/>
                <a:cs typeface="Roboto Mono"/>
                <a:sym typeface="Roboto Mono"/>
              </a:rPr>
              <a:t> (&lt;div&gt;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&lt;h1&gt;</a:t>
            </a:r>
            <a:r>
              <a:rPr lang="en" sz="1150">
                <a:solidFill>
                  <a:srgbClr val="CE93D8"/>
                </a:solidFill>
                <a:latin typeface="Roboto Mono"/>
                <a:ea typeface="Roboto Mono"/>
                <a:cs typeface="Roboto Mono"/>
                <a:sym typeface="Roboto Mono"/>
              </a:rPr>
              <a:t>Second</a:t>
            </a:r>
            <a:r>
              <a:rPr lang="en" sz="1150">
                <a:solidFill>
                  <a:srgbClr val="ECEFF1"/>
                </a:solidFill>
                <a:latin typeface="Roboto Mono"/>
                <a:ea typeface="Roboto Mono"/>
                <a:cs typeface="Roboto Mono"/>
                <a:sym typeface="Roboto Mono"/>
              </a:rPr>
              <a:t> </a:t>
            </a:r>
            <a:r>
              <a:rPr lang="en" sz="1150">
                <a:solidFill>
                  <a:srgbClr val="CE93D8"/>
                </a:solidFill>
                <a:latin typeface="Roboto Mono"/>
                <a:ea typeface="Roboto Mono"/>
                <a:cs typeface="Roboto Mono"/>
                <a:sym typeface="Roboto Mono"/>
              </a:rPr>
              <a:t>Example</a:t>
            </a:r>
            <a:r>
              <a:rPr lang="en" sz="1150">
                <a:solidFill>
                  <a:srgbClr val="ECEFF1"/>
                </a:solidFill>
                <a:latin typeface="Roboto Mono"/>
                <a:ea typeface="Roboto Mono"/>
                <a:cs typeface="Roboto Mono"/>
                <a:sym typeface="Roboto Mono"/>
              </a:rPr>
              <a:t> </a:t>
            </a:r>
            <a:r>
              <a:rPr lang="en" sz="1150">
                <a:solidFill>
                  <a:srgbClr val="CE93D8"/>
                </a:solidFill>
                <a:latin typeface="Roboto Mono"/>
                <a:ea typeface="Roboto Mono"/>
                <a:cs typeface="Roboto Mono"/>
                <a:sym typeface="Roboto Mono"/>
              </a:rPr>
              <a:t>Event</a:t>
            </a:r>
            <a:r>
              <a:rPr lang="en" sz="1150">
                <a:solidFill>
                  <a:srgbClr val="ECEFF1"/>
                </a:solidFill>
                <a:latin typeface="Roboto Mono"/>
                <a:ea typeface="Roboto Mono"/>
                <a:cs typeface="Roboto Mono"/>
                <a:sym typeface="Roboto Mono"/>
              </a:rPr>
              <a:t>&lt;/h1&gt;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&lt;input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onChange={keyUpHandler}</a:t>
            </a:r>
            <a:br>
              <a:rPr lang="en" sz="1150">
                <a:solidFill>
                  <a:srgbClr val="ECEFF1"/>
                </a:solidFill>
                <a:latin typeface="Roboto Mono"/>
                <a:ea typeface="Roboto Mono"/>
                <a:cs typeface="Roboto Mono"/>
                <a:sym typeface="Roboto Mono"/>
              </a:rPr>
            </a:br>
            <a:r>
              <a:rPr lang="en" sz="1150">
                <a:solidFill>
                  <a:srgbClr val="ECEFF1"/>
                </a:solidFill>
                <a:latin typeface="Roboto Mono"/>
                <a:ea typeface="Roboto Mono"/>
                <a:cs typeface="Roboto Mono"/>
                <a:sym typeface="Roboto Mono"/>
              </a:rPr>
              <a:t>      value</a:t>
            </a:r>
            <a:r>
              <a:rPr lang="en" sz="1150">
                <a:solidFill>
                  <a:srgbClr val="ECEFF1"/>
                </a:solidFill>
                <a:latin typeface="Roboto Mono"/>
                <a:ea typeface="Roboto Mono"/>
                <a:cs typeface="Roboto Mono"/>
                <a:sym typeface="Roboto Mono"/>
              </a:rPr>
              <a:t>={inputValue}</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type=</a:t>
            </a:r>
            <a:r>
              <a:rPr lang="en" sz="1150">
                <a:solidFill>
                  <a:srgbClr val="9CCC65"/>
                </a:solidFill>
                <a:latin typeface="Roboto Mono"/>
                <a:ea typeface="Roboto Mono"/>
                <a:cs typeface="Roboto Mono"/>
                <a:sym typeface="Roboto Mono"/>
              </a:rPr>
              <a:t>"text"</a:t>
            </a:r>
            <a:r>
              <a:rPr lang="en" sz="1150">
                <a:solidFill>
                  <a:srgbClr val="ECEFF1"/>
                </a:solidFill>
                <a:latin typeface="Roboto Mono"/>
                <a:ea typeface="Roboto Mono"/>
                <a:cs typeface="Roboto Mono"/>
                <a:sym typeface="Roboto Mono"/>
              </a:rPr>
              <a:t>/&gt;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&lt;p&gt;</a:t>
            </a:r>
            <a:r>
              <a:rPr lang="en" sz="1150">
                <a:solidFill>
                  <a:srgbClr val="CE93D8"/>
                </a:solidFill>
                <a:latin typeface="Roboto Mono"/>
                <a:ea typeface="Roboto Mono"/>
                <a:cs typeface="Roboto Mono"/>
                <a:sym typeface="Roboto Mono"/>
              </a:rPr>
              <a:t>The</a:t>
            </a:r>
            <a:r>
              <a:rPr lang="en" sz="1150">
                <a:solidFill>
                  <a:srgbClr val="ECEFF1"/>
                </a:solidFill>
                <a:latin typeface="Roboto Mono"/>
                <a:ea typeface="Roboto Mono"/>
                <a:cs typeface="Roboto Mono"/>
                <a:sym typeface="Roboto Mono"/>
              </a:rPr>
              <a:t> text is: {inputValue}&lt;/p&gt;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&lt;/div&gt;);</a:t>
            </a:r>
            <a:endParaRPr sz="11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
        <p:nvSpPr>
          <p:cNvPr id="120" name="Google Shape;120;p21"/>
          <p:cNvSpPr txBox="1"/>
          <p:nvPr/>
        </p:nvSpPr>
        <p:spPr>
          <a:xfrm>
            <a:off x="706150" y="1345575"/>
            <a:ext cx="3000000" cy="39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Example 1: (</a:t>
            </a:r>
            <a:r>
              <a:rPr lang="en" u="sng">
                <a:solidFill>
                  <a:schemeClr val="hlink"/>
                </a:solidFill>
                <a:hlinkClick r:id="rId3"/>
              </a:rPr>
              <a:t>live demo</a:t>
            </a:r>
            <a:r>
              <a:rPr lang="en">
                <a:solidFill>
                  <a:srgbClr val="FFFFFF"/>
                </a:solidFill>
              </a:rPr>
              <a:t>)</a:t>
            </a:r>
            <a:endParaRPr>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type="title"/>
          </p:nvPr>
        </p:nvSpPr>
        <p:spPr>
          <a:xfrm>
            <a:off x="387900" y="467550"/>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State Hook Examples 2</a:t>
            </a:r>
            <a:endParaRPr/>
          </a:p>
        </p:txBody>
      </p:sp>
      <p:sp>
        <p:nvSpPr>
          <p:cNvPr id="126" name="Google Shape;126;p22"/>
          <p:cNvSpPr txBox="1"/>
          <p:nvPr/>
        </p:nvSpPr>
        <p:spPr>
          <a:xfrm>
            <a:off x="429425" y="1277250"/>
            <a:ext cx="3000000" cy="39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Example 2: (</a:t>
            </a:r>
            <a:r>
              <a:rPr lang="en" u="sng">
                <a:solidFill>
                  <a:schemeClr val="hlink"/>
                </a:solidFill>
                <a:hlinkClick r:id="rId3"/>
              </a:rPr>
              <a:t>live demo</a:t>
            </a:r>
            <a:r>
              <a:rPr lang="en">
                <a:solidFill>
                  <a:srgbClr val="FFFFFF"/>
                </a:solidFill>
              </a:rPr>
              <a:t>)</a:t>
            </a:r>
            <a:endParaRPr>
              <a:solidFill>
                <a:srgbClr val="FFFFFF"/>
              </a:solidFill>
            </a:endParaRPr>
          </a:p>
        </p:txBody>
      </p:sp>
      <p:sp>
        <p:nvSpPr>
          <p:cNvPr id="127" name="Google Shape;127;p22"/>
          <p:cNvSpPr txBox="1"/>
          <p:nvPr/>
        </p:nvSpPr>
        <p:spPr>
          <a:xfrm>
            <a:off x="429425" y="1668450"/>
            <a:ext cx="6478500" cy="30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a:t>
            </a:r>
            <a:r>
              <a:rPr lang="en" sz="1150">
                <a:solidFill>
                  <a:srgbClr val="CE93D8"/>
                </a:solidFill>
                <a:latin typeface="Roboto Mono"/>
                <a:ea typeface="Roboto Mono"/>
                <a:cs typeface="Roboto Mono"/>
                <a:sym typeface="Roboto Mono"/>
              </a:rPr>
              <a:t>App</a:t>
            </a:r>
            <a:r>
              <a:rPr lang="en" sz="1150">
                <a:solidFill>
                  <a:srgbClr val="ECEFF1"/>
                </a:solidFill>
                <a:latin typeface="Roboto Mono"/>
                <a:ea typeface="Roboto Mono"/>
                <a:cs typeface="Roboto Mono"/>
                <a:sym typeface="Roboto Mono"/>
              </a:rPr>
              <a:t> = () =&gt;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[clicked, setClicked] = </a:t>
            </a:r>
            <a:r>
              <a:rPr lang="en" sz="1150">
                <a:solidFill>
                  <a:srgbClr val="CE93D8"/>
                </a:solidFill>
                <a:latin typeface="Roboto Mono"/>
                <a:ea typeface="Roboto Mono"/>
                <a:cs typeface="Roboto Mono"/>
                <a:sym typeface="Roboto Mono"/>
              </a:rPr>
              <a:t>React</a:t>
            </a:r>
            <a:r>
              <a:rPr lang="en" sz="1150">
                <a:solidFill>
                  <a:srgbClr val="ECEFF1"/>
                </a:solidFill>
                <a:latin typeface="Roboto Mono"/>
                <a:ea typeface="Roboto Mono"/>
                <a:cs typeface="Roboto Mono"/>
                <a:sym typeface="Roboto Mono"/>
              </a:rPr>
              <a:t>.useState(</a:t>
            </a:r>
            <a:r>
              <a:rPr lang="en" sz="1150">
                <a:solidFill>
                  <a:srgbClr val="FBC02D"/>
                </a:solidFill>
                <a:latin typeface="Roboto Mono"/>
                <a:ea typeface="Roboto Mono"/>
                <a:cs typeface="Roboto Mono"/>
                <a:sym typeface="Roboto Mono"/>
              </a:rPr>
              <a:t>0</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clickHandler = (event) =&gt;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newClickedValue = clicked + </a:t>
            </a:r>
            <a:r>
              <a:rPr lang="en" sz="1150">
                <a:solidFill>
                  <a:srgbClr val="FBC02D"/>
                </a:solidFill>
                <a:latin typeface="Roboto Mono"/>
                <a:ea typeface="Roboto Mono"/>
                <a:cs typeface="Roboto Mono"/>
                <a:sym typeface="Roboto Mono"/>
              </a:rPr>
              <a:t>1</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setClicked(newClickedValue);</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return</a:t>
            </a:r>
            <a:r>
              <a:rPr lang="en" sz="1150">
                <a:solidFill>
                  <a:srgbClr val="ECEFF1"/>
                </a:solidFill>
                <a:latin typeface="Roboto Mono"/>
                <a:ea typeface="Roboto Mono"/>
                <a:cs typeface="Roboto Mono"/>
                <a:sym typeface="Roboto Mono"/>
              </a:rPr>
              <a:t> (&lt;div&gt;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&lt;p&gt;clicked {clicked} times &lt;/p&gt;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&lt;button</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onClick={(event)=&gt; clickHandler(event)}&gt;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CE93D8"/>
                </a:solidFill>
                <a:latin typeface="Roboto Mono"/>
                <a:ea typeface="Roboto Mono"/>
                <a:cs typeface="Roboto Mono"/>
                <a:sym typeface="Roboto Mono"/>
              </a:rPr>
              <a:t>Ultimate</a:t>
            </a:r>
            <a:r>
              <a:rPr lang="en" sz="1150">
                <a:solidFill>
                  <a:srgbClr val="ECEFF1"/>
                </a:solidFill>
                <a:latin typeface="Roboto Mono"/>
                <a:ea typeface="Roboto Mono"/>
                <a:cs typeface="Roboto Mono"/>
                <a:sym typeface="Roboto Mono"/>
              </a:rPr>
              <a:t> </a:t>
            </a:r>
            <a:r>
              <a:rPr lang="en" sz="1150">
                <a:solidFill>
                  <a:srgbClr val="CE93D8"/>
                </a:solidFill>
                <a:latin typeface="Roboto Mono"/>
                <a:ea typeface="Roboto Mono"/>
                <a:cs typeface="Roboto Mono"/>
                <a:sym typeface="Roboto Mono"/>
              </a:rPr>
              <a:t>Clicker</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&lt;/button&gt;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&lt;/div&gt;);</a:t>
            </a:r>
            <a:endParaRPr sz="11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JSX Conditionals - Ternary Operators</a:t>
            </a:r>
            <a:endParaRPr/>
          </a:p>
        </p:txBody>
      </p:sp>
      <p:sp>
        <p:nvSpPr>
          <p:cNvPr id="133" name="Google Shape;133;p23"/>
          <p:cNvSpPr txBox="1"/>
          <p:nvPr>
            <p:ph idx="1" type="body"/>
          </p:nvPr>
        </p:nvSpPr>
        <p:spPr>
          <a:xfrm>
            <a:off x="387900" y="1261225"/>
            <a:ext cx="39999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t>A lot of the time you want to display different things depending on a certain condition or value, and you can use ternary values to do this. Let’s take  look at an example on the right.</a:t>
            </a:r>
            <a:endParaRPr sz="1100"/>
          </a:p>
          <a:p>
            <a:pPr indent="0" lvl="0" marL="0" rtl="0" algn="l">
              <a:spcBef>
                <a:spcPts val="1600"/>
              </a:spcBef>
              <a:spcAft>
                <a:spcPts val="0"/>
              </a:spcAft>
              <a:buNone/>
            </a:pPr>
            <a:r>
              <a:rPr lang="en" sz="1100"/>
              <a:t>First we observe that we have a stateful variable “</a:t>
            </a:r>
            <a:r>
              <a:rPr lang="en" sz="950">
                <a:solidFill>
                  <a:srgbClr val="ECEFF1"/>
                </a:solidFill>
                <a:latin typeface="Roboto Mono"/>
                <a:ea typeface="Roboto Mono"/>
                <a:cs typeface="Roboto Mono"/>
                <a:sym typeface="Roboto Mono"/>
              </a:rPr>
              <a:t>on</a:t>
            </a:r>
            <a:r>
              <a:rPr lang="en" sz="1100"/>
              <a:t>” that is a boolean.</a:t>
            </a:r>
            <a:endParaRPr sz="1100"/>
          </a:p>
          <a:p>
            <a:pPr indent="0" lvl="0" marL="0" rtl="0" algn="l">
              <a:spcBef>
                <a:spcPts val="1600"/>
              </a:spcBef>
              <a:spcAft>
                <a:spcPts val="0"/>
              </a:spcAft>
              <a:buNone/>
            </a:pPr>
            <a:r>
              <a:rPr lang="en" sz="1100"/>
              <a:t>In the JSX under the button we have “</a:t>
            </a:r>
            <a:r>
              <a:rPr lang="en" sz="950">
                <a:solidFill>
                  <a:srgbClr val="ECEFF1"/>
                </a:solidFill>
                <a:latin typeface="Roboto Mono"/>
                <a:ea typeface="Roboto Mono"/>
                <a:cs typeface="Roboto Mono"/>
                <a:sym typeface="Roboto Mono"/>
              </a:rPr>
              <a:t>on ?</a:t>
            </a:r>
            <a:r>
              <a:rPr lang="en" sz="1100"/>
              <a:t>” indicating we’re using a ternary that is evaluating whether the condition “</a:t>
            </a:r>
            <a:r>
              <a:rPr lang="en" sz="950">
                <a:solidFill>
                  <a:srgbClr val="ECEFF1"/>
                </a:solidFill>
                <a:latin typeface="Roboto Mono"/>
                <a:ea typeface="Roboto Mono"/>
                <a:cs typeface="Roboto Mono"/>
                <a:sym typeface="Roboto Mono"/>
              </a:rPr>
              <a:t>on</a:t>
            </a:r>
            <a:r>
              <a:rPr lang="en" sz="1100"/>
              <a:t>” is true or false.</a:t>
            </a:r>
            <a:endParaRPr sz="1100"/>
          </a:p>
          <a:p>
            <a:pPr indent="0" lvl="0" marL="0" rtl="0" algn="l">
              <a:spcBef>
                <a:spcPts val="1600"/>
              </a:spcBef>
              <a:spcAft>
                <a:spcPts val="1600"/>
              </a:spcAft>
              <a:buNone/>
            </a:pPr>
            <a:r>
              <a:rPr lang="en" sz="1100"/>
              <a:t>After the “” (ternary) we have the conditions to display “</a:t>
            </a:r>
            <a:r>
              <a:rPr lang="en" sz="950">
                <a:solidFill>
                  <a:srgbClr val="ECEFF1"/>
                </a:solidFill>
                <a:latin typeface="Roboto Mono"/>
                <a:ea typeface="Roboto Mono"/>
                <a:cs typeface="Roboto Mono"/>
                <a:sym typeface="Roboto Mono"/>
              </a:rPr>
              <a:t>&lt;p&gt;value of on is "true"&lt;/p&gt; : &lt;p&gt;value of on is "false"&lt;/p&gt;</a:t>
            </a:r>
            <a:r>
              <a:rPr lang="en" sz="1100"/>
              <a:t>“. Before the colon “</a:t>
            </a:r>
            <a:r>
              <a:rPr lang="en" sz="950">
                <a:solidFill>
                  <a:srgbClr val="ECEFF1"/>
                </a:solidFill>
                <a:latin typeface="Roboto Mono"/>
                <a:ea typeface="Roboto Mono"/>
                <a:cs typeface="Roboto Mono"/>
                <a:sym typeface="Roboto Mono"/>
              </a:rPr>
              <a:t>:</a:t>
            </a:r>
            <a:r>
              <a:rPr lang="en" sz="1100"/>
              <a:t>” is the what will be displayed when “</a:t>
            </a:r>
            <a:r>
              <a:rPr lang="en" sz="950">
                <a:solidFill>
                  <a:srgbClr val="ECEFF1"/>
                </a:solidFill>
                <a:latin typeface="Roboto Mono"/>
                <a:ea typeface="Roboto Mono"/>
                <a:cs typeface="Roboto Mono"/>
                <a:sym typeface="Roboto Mono"/>
              </a:rPr>
              <a:t>on</a:t>
            </a:r>
            <a:r>
              <a:rPr lang="en" sz="1100"/>
              <a:t>” is true. After the colon “</a:t>
            </a:r>
            <a:r>
              <a:rPr lang="en" sz="950">
                <a:solidFill>
                  <a:srgbClr val="ECEFF1"/>
                </a:solidFill>
                <a:latin typeface="Roboto Mono"/>
                <a:ea typeface="Roboto Mono"/>
                <a:cs typeface="Roboto Mono"/>
                <a:sym typeface="Roboto Mono"/>
              </a:rPr>
              <a:t>:</a:t>
            </a:r>
            <a:r>
              <a:rPr lang="en" sz="1100"/>
              <a:t>”  is what will be displayed if “</a:t>
            </a:r>
            <a:r>
              <a:rPr lang="en" sz="950">
                <a:solidFill>
                  <a:srgbClr val="ECEFF1"/>
                </a:solidFill>
                <a:latin typeface="Roboto Mono"/>
                <a:ea typeface="Roboto Mono"/>
                <a:cs typeface="Roboto Mono"/>
                <a:sym typeface="Roboto Mono"/>
              </a:rPr>
              <a:t>on</a:t>
            </a:r>
            <a:r>
              <a:rPr lang="en" sz="1100"/>
              <a:t>” is false.</a:t>
            </a:r>
            <a:endParaRPr sz="1100"/>
          </a:p>
        </p:txBody>
      </p:sp>
      <p:sp>
        <p:nvSpPr>
          <p:cNvPr id="134" name="Google Shape;134;p23"/>
          <p:cNvSpPr txBox="1"/>
          <p:nvPr>
            <p:ph idx="2" type="body"/>
          </p:nvPr>
        </p:nvSpPr>
        <p:spPr>
          <a:xfrm>
            <a:off x="4861625" y="1117825"/>
            <a:ext cx="2174100" cy="372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Example of </a:t>
            </a:r>
            <a:r>
              <a:rPr lang="en" u="sng">
                <a:solidFill>
                  <a:schemeClr val="hlink"/>
                </a:solidFill>
                <a:hlinkClick r:id="rId3"/>
              </a:rPr>
              <a:t>JSX Ternary</a:t>
            </a:r>
            <a:endParaRPr/>
          </a:p>
        </p:txBody>
      </p:sp>
      <p:sp>
        <p:nvSpPr>
          <p:cNvPr id="135" name="Google Shape;135;p23"/>
          <p:cNvSpPr txBox="1"/>
          <p:nvPr/>
        </p:nvSpPr>
        <p:spPr>
          <a:xfrm>
            <a:off x="4861625" y="1516125"/>
            <a:ext cx="43878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rgbClr val="4DD0E1"/>
                </a:solidFill>
                <a:latin typeface="Roboto Mono"/>
                <a:ea typeface="Roboto Mono"/>
                <a:cs typeface="Roboto Mono"/>
                <a:sym typeface="Roboto Mono"/>
              </a:rPr>
              <a:t>import</a:t>
            </a:r>
            <a:r>
              <a:rPr lang="en" sz="1050">
                <a:solidFill>
                  <a:srgbClr val="ECEFF1"/>
                </a:solidFill>
                <a:latin typeface="Roboto Mono"/>
                <a:ea typeface="Roboto Mono"/>
                <a:cs typeface="Roboto Mono"/>
                <a:sym typeface="Roboto Mono"/>
              </a:rPr>
              <a:t> { useState } </a:t>
            </a:r>
            <a:r>
              <a:rPr lang="en" sz="1050">
                <a:solidFill>
                  <a:srgbClr val="4DD0E1"/>
                </a:solidFill>
                <a:latin typeface="Roboto Mono"/>
                <a:ea typeface="Roboto Mono"/>
                <a:cs typeface="Roboto Mono"/>
                <a:sym typeface="Roboto Mono"/>
              </a:rPr>
              <a:t>from</a:t>
            </a:r>
            <a:r>
              <a:rPr lang="en" sz="1050">
                <a:solidFill>
                  <a:srgbClr val="ECEFF1"/>
                </a:solidFill>
                <a:latin typeface="Roboto Mono"/>
                <a:ea typeface="Roboto Mono"/>
                <a:cs typeface="Roboto Mono"/>
                <a:sym typeface="Roboto Mono"/>
              </a:rPr>
              <a:t> </a:t>
            </a:r>
            <a:r>
              <a:rPr lang="en" sz="1050">
                <a:solidFill>
                  <a:srgbClr val="9CCC65"/>
                </a:solidFill>
                <a:latin typeface="Roboto Mono"/>
                <a:ea typeface="Roboto Mono"/>
                <a:cs typeface="Roboto Mono"/>
                <a:sym typeface="Roboto Mono"/>
              </a:rPr>
              <a:t>"react"</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4DD0E1"/>
                </a:solidFill>
                <a:latin typeface="Roboto Mono"/>
                <a:ea typeface="Roboto Mono"/>
                <a:cs typeface="Roboto Mono"/>
                <a:sym typeface="Roboto Mono"/>
              </a:rPr>
              <a:t>const</a:t>
            </a:r>
            <a:r>
              <a:rPr lang="en" sz="1050">
                <a:solidFill>
                  <a:srgbClr val="ECEFF1"/>
                </a:solidFill>
                <a:latin typeface="Roboto Mono"/>
                <a:ea typeface="Roboto Mono"/>
                <a:cs typeface="Roboto Mono"/>
                <a:sym typeface="Roboto Mono"/>
              </a:rPr>
              <a:t> App = () =&gt; {</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a:t>
            </a:r>
            <a:r>
              <a:rPr lang="en" sz="1050">
                <a:solidFill>
                  <a:srgbClr val="4DD0E1"/>
                </a:solidFill>
                <a:latin typeface="Roboto Mono"/>
                <a:ea typeface="Roboto Mono"/>
                <a:cs typeface="Roboto Mono"/>
                <a:sym typeface="Roboto Mono"/>
              </a:rPr>
              <a:t>const</a:t>
            </a:r>
            <a:r>
              <a:rPr lang="en" sz="1050">
                <a:solidFill>
                  <a:srgbClr val="ECEFF1"/>
                </a:solidFill>
                <a:latin typeface="Roboto Mono"/>
                <a:ea typeface="Roboto Mono"/>
                <a:cs typeface="Roboto Mono"/>
                <a:sym typeface="Roboto Mono"/>
              </a:rPr>
              <a:t> [on, setOn] = useState(</a:t>
            </a:r>
            <a:r>
              <a:rPr lang="en" sz="1050">
                <a:solidFill>
                  <a:srgbClr val="4DD0E1"/>
                </a:solidFill>
                <a:latin typeface="Roboto Mono"/>
                <a:ea typeface="Roboto Mono"/>
                <a:cs typeface="Roboto Mono"/>
                <a:sym typeface="Roboto Mono"/>
              </a:rPr>
              <a:t>false</a:t>
            </a:r>
            <a:r>
              <a:rPr lang="en" sz="1050">
                <a:solidFill>
                  <a:srgbClr val="ECEFF1"/>
                </a:solidFill>
                <a:latin typeface="Roboto Mono"/>
                <a:ea typeface="Roboto Mono"/>
                <a:cs typeface="Roboto Mono"/>
                <a:sym typeface="Roboto Mono"/>
              </a:rPr>
              <a:t>);</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a:t>
            </a:r>
            <a:r>
              <a:rPr lang="en" sz="1050">
                <a:solidFill>
                  <a:srgbClr val="4DD0E1"/>
                </a:solidFill>
                <a:latin typeface="Roboto Mono"/>
                <a:ea typeface="Roboto Mono"/>
                <a:cs typeface="Roboto Mono"/>
                <a:sym typeface="Roboto Mono"/>
              </a:rPr>
              <a:t>const</a:t>
            </a:r>
            <a:r>
              <a:rPr lang="en" sz="1050">
                <a:solidFill>
                  <a:srgbClr val="ECEFF1"/>
                </a:solidFill>
                <a:latin typeface="Roboto Mono"/>
                <a:ea typeface="Roboto Mono"/>
                <a:cs typeface="Roboto Mono"/>
                <a:sym typeface="Roboto Mono"/>
              </a:rPr>
              <a:t> toggleMessage = (event) =&gt; </a:t>
            </a:r>
            <a:r>
              <a:rPr lang="en" sz="1050">
                <a:solidFill>
                  <a:srgbClr val="ECEFF1"/>
                </a:solidFill>
                <a:latin typeface="Roboto Mono"/>
                <a:ea typeface="Roboto Mono"/>
                <a:cs typeface="Roboto Mono"/>
                <a:sym typeface="Roboto Mono"/>
              </a:rPr>
              <a:t>{</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a:t>
            </a:r>
            <a:r>
              <a:rPr lang="en" sz="1050">
                <a:solidFill>
                  <a:srgbClr val="ECEFF1"/>
                </a:solidFill>
                <a:latin typeface="Roboto Mono"/>
                <a:ea typeface="Roboto Mono"/>
                <a:cs typeface="Roboto Mono"/>
                <a:sym typeface="Roboto Mono"/>
              </a:rPr>
              <a:t>setOn(!on);</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a:t>
            </a:r>
            <a:r>
              <a:rPr lang="en" sz="1050">
                <a:solidFill>
                  <a:srgbClr val="4DD0E1"/>
                </a:solidFill>
                <a:latin typeface="Roboto Mono"/>
                <a:ea typeface="Roboto Mono"/>
                <a:cs typeface="Roboto Mono"/>
                <a:sym typeface="Roboto Mono"/>
              </a:rPr>
              <a:t>return</a:t>
            </a:r>
            <a:r>
              <a:rPr lang="en" sz="1050">
                <a:solidFill>
                  <a:srgbClr val="ECEFF1"/>
                </a:solidFill>
                <a:latin typeface="Roboto Mono"/>
                <a:ea typeface="Roboto Mono"/>
                <a:cs typeface="Roboto Mono"/>
                <a:sym typeface="Roboto Mono"/>
              </a:rPr>
              <a:t> &lt;div&gt;</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&lt;button onClick={toggleMessage}&gt;</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Toggle</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&lt;/button&gt;</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 on ? </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&lt;p&gt;value of on is "true"&lt;/p&gt;</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&lt;p&gt;value of on is</a:t>
            </a:r>
            <a:r>
              <a:rPr lang="en" sz="1050">
                <a:solidFill>
                  <a:srgbClr val="ECEFF1"/>
                </a:solidFill>
                <a:latin typeface="Roboto Mono"/>
                <a:ea typeface="Roboto Mono"/>
                <a:cs typeface="Roboto Mono"/>
                <a:sym typeface="Roboto Mono"/>
              </a:rPr>
              <a:t> "false"</a:t>
            </a:r>
            <a:r>
              <a:rPr lang="en" sz="1050">
                <a:solidFill>
                  <a:srgbClr val="ECEFF1"/>
                </a:solidFill>
                <a:latin typeface="Roboto Mono"/>
                <a:ea typeface="Roboto Mono"/>
                <a:cs typeface="Roboto Mono"/>
                <a:sym typeface="Roboto Mono"/>
              </a:rPr>
              <a:t>&lt;/p&gt;</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&lt;/div&gt;;</a:t>
            </a:r>
            <a:endParaRPr sz="10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1050">
                <a:solidFill>
                  <a:srgbClr val="ECEFF1"/>
                </a:solidFill>
                <a:latin typeface="Roboto Mono"/>
                <a:ea typeface="Roboto Mono"/>
                <a:cs typeface="Roboto Mono"/>
                <a:sym typeface="Roboto Mono"/>
              </a:rPr>
              <a:t>}</a:t>
            </a:r>
            <a:endParaRPr sz="1050">
              <a:solidFill>
                <a:srgbClr val="ECEFF1"/>
              </a:solidFill>
              <a:latin typeface="Roboto Mono"/>
              <a:ea typeface="Roboto Mono"/>
              <a:cs typeface="Roboto Mono"/>
              <a:sym typeface="Roboto Mono"/>
            </a:endParaRPr>
          </a:p>
        </p:txBody>
      </p:sp>
      <p:sp>
        <p:nvSpPr>
          <p:cNvPr id="136" name="Google Shape;136;p23"/>
          <p:cNvSpPr txBox="1"/>
          <p:nvPr/>
        </p:nvSpPr>
        <p:spPr>
          <a:xfrm>
            <a:off x="152400" y="152400"/>
            <a:ext cx="3695400" cy="34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50">
              <a:solidFill>
                <a:srgbClr val="ECEFF1"/>
              </a:solidFill>
              <a:latin typeface="Roboto Mono"/>
              <a:ea typeface="Roboto Mono"/>
              <a:cs typeface="Roboto Mono"/>
              <a:sym typeface="Roboto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4"/>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JSX Conditionals - Short Circuits</a:t>
            </a:r>
            <a:endParaRPr/>
          </a:p>
        </p:txBody>
      </p:sp>
      <p:sp>
        <p:nvSpPr>
          <p:cNvPr id="142" name="Google Shape;142;p24"/>
          <p:cNvSpPr txBox="1"/>
          <p:nvPr>
            <p:ph idx="1" type="body"/>
          </p:nvPr>
        </p:nvSpPr>
        <p:spPr>
          <a:xfrm>
            <a:off x="387900" y="1261225"/>
            <a:ext cx="39999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t>In your the JSX of your components many times you </a:t>
            </a:r>
            <a:r>
              <a:rPr lang="en" sz="1100"/>
              <a:t>just</a:t>
            </a:r>
            <a:r>
              <a:rPr lang="en" sz="1100"/>
              <a:t> want to display something based a certain condition and nothing if the condition is not met. You could do this with the ternary of the last slide, but it’s a bit nicer to use “short circuits” to do so.</a:t>
            </a:r>
            <a:endParaRPr sz="1100"/>
          </a:p>
          <a:p>
            <a:pPr indent="0" lvl="0" marL="0" rtl="0" algn="l">
              <a:spcBef>
                <a:spcPts val="1600"/>
              </a:spcBef>
              <a:spcAft>
                <a:spcPts val="0"/>
              </a:spcAft>
              <a:buNone/>
            </a:pPr>
            <a:r>
              <a:rPr lang="en" sz="1100"/>
              <a:t>Let’s take a look at the example on the right, first we have a boolean stateful variable named “</a:t>
            </a:r>
            <a:r>
              <a:rPr lang="en" sz="1050">
                <a:solidFill>
                  <a:srgbClr val="ECEFF1"/>
                </a:solidFill>
                <a:latin typeface="Roboto Mono"/>
                <a:ea typeface="Roboto Mono"/>
                <a:cs typeface="Roboto Mono"/>
                <a:sym typeface="Roboto Mono"/>
              </a:rPr>
              <a:t>hideMessage</a:t>
            </a:r>
            <a:r>
              <a:rPr lang="en" sz="1100"/>
              <a:t>” that we toggle on or off in the “</a:t>
            </a:r>
            <a:r>
              <a:rPr lang="en" sz="1050">
                <a:solidFill>
                  <a:srgbClr val="ECEFF1"/>
                </a:solidFill>
                <a:latin typeface="Roboto Mono"/>
                <a:ea typeface="Roboto Mono"/>
                <a:cs typeface="Roboto Mono"/>
                <a:sym typeface="Roboto Mono"/>
              </a:rPr>
              <a:t>toggleMessage</a:t>
            </a:r>
            <a:r>
              <a:rPr lang="en" sz="1100"/>
              <a:t>”</a:t>
            </a:r>
            <a:endParaRPr sz="1100"/>
          </a:p>
          <a:p>
            <a:pPr indent="0" lvl="0" marL="0" rtl="0" algn="l">
              <a:spcBef>
                <a:spcPts val="1600"/>
              </a:spcBef>
              <a:spcAft>
                <a:spcPts val="0"/>
              </a:spcAft>
              <a:buNone/>
            </a:pPr>
            <a:r>
              <a:rPr lang="en" sz="1100"/>
              <a:t>We want to display the message only if the  ”</a:t>
            </a:r>
            <a:r>
              <a:rPr lang="en" sz="1050">
                <a:solidFill>
                  <a:srgbClr val="ECEFF1"/>
                </a:solidFill>
                <a:latin typeface="Roboto Mono"/>
                <a:ea typeface="Roboto Mono"/>
                <a:cs typeface="Roboto Mono"/>
                <a:sym typeface="Roboto Mono"/>
              </a:rPr>
              <a:t>hideMessage</a:t>
            </a:r>
            <a:r>
              <a:rPr lang="en" sz="1100"/>
              <a:t>” is true. We use the condition and short circuit like so </a:t>
            </a:r>
            <a:br>
              <a:rPr lang="en" sz="1100"/>
            </a:br>
            <a:r>
              <a:rPr lang="en" sz="1100"/>
              <a:t>“</a:t>
            </a:r>
            <a:r>
              <a:rPr lang="en" sz="1050">
                <a:solidFill>
                  <a:srgbClr val="ECEFF1"/>
                </a:solidFill>
                <a:latin typeface="Roboto Mono"/>
                <a:ea typeface="Roboto Mono"/>
                <a:cs typeface="Roboto Mono"/>
                <a:sym typeface="Roboto Mono"/>
              </a:rPr>
              <a:t>!hideMessage &amp;&amp; </a:t>
            </a:r>
            <a:r>
              <a:rPr lang="en" sz="1100"/>
              <a:t>” so that we display what’s on the right of the “</a:t>
            </a:r>
            <a:r>
              <a:rPr lang="en" sz="1050">
                <a:solidFill>
                  <a:srgbClr val="ECEFF1"/>
                </a:solidFill>
                <a:latin typeface="Roboto Mono"/>
                <a:ea typeface="Roboto Mono"/>
                <a:cs typeface="Roboto Mono"/>
                <a:sym typeface="Roboto Mono"/>
              </a:rPr>
              <a:t>&amp;&amp;</a:t>
            </a:r>
            <a:r>
              <a:rPr lang="en" sz="1100"/>
              <a:t>” which is the “</a:t>
            </a:r>
            <a:r>
              <a:rPr lang="en" sz="1050">
                <a:solidFill>
                  <a:srgbClr val="ECEFF1"/>
                </a:solidFill>
                <a:latin typeface="Roboto Mono"/>
                <a:ea typeface="Roboto Mono"/>
                <a:cs typeface="Roboto Mono"/>
                <a:sym typeface="Roboto Mono"/>
              </a:rPr>
              <a:t>&lt;p&gt;The secret message!&lt;/p&gt;</a:t>
            </a:r>
            <a:r>
              <a:rPr lang="en" sz="1100"/>
              <a:t>”</a:t>
            </a:r>
            <a:endParaRPr sz="1100"/>
          </a:p>
          <a:p>
            <a:pPr indent="0" lvl="0" marL="0" rtl="0" algn="l">
              <a:spcBef>
                <a:spcPts val="1600"/>
              </a:spcBef>
              <a:spcAft>
                <a:spcPts val="1600"/>
              </a:spcAft>
              <a:buNone/>
            </a:pPr>
            <a:r>
              <a:rPr lang="en" sz="1100"/>
              <a:t>Take a look at the linked example to see how this works.</a:t>
            </a:r>
            <a:endParaRPr sz="1100"/>
          </a:p>
        </p:txBody>
      </p:sp>
      <p:sp>
        <p:nvSpPr>
          <p:cNvPr id="143" name="Google Shape;143;p24"/>
          <p:cNvSpPr txBox="1"/>
          <p:nvPr>
            <p:ph idx="2" type="body"/>
          </p:nvPr>
        </p:nvSpPr>
        <p:spPr>
          <a:xfrm>
            <a:off x="4475875" y="1144125"/>
            <a:ext cx="3259200" cy="372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Example of </a:t>
            </a:r>
            <a:r>
              <a:rPr lang="en" u="sng">
                <a:solidFill>
                  <a:schemeClr val="hlink"/>
                </a:solidFill>
                <a:hlinkClick r:id="rId3"/>
              </a:rPr>
              <a:t>JSX Short Circuits</a:t>
            </a:r>
            <a:endParaRPr/>
          </a:p>
        </p:txBody>
      </p:sp>
      <p:sp>
        <p:nvSpPr>
          <p:cNvPr id="144" name="Google Shape;144;p24"/>
          <p:cNvSpPr txBox="1"/>
          <p:nvPr/>
        </p:nvSpPr>
        <p:spPr>
          <a:xfrm>
            <a:off x="152400" y="152400"/>
            <a:ext cx="3695400" cy="34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50">
              <a:solidFill>
                <a:srgbClr val="ECEFF1"/>
              </a:solidFill>
              <a:latin typeface="Roboto Mono"/>
              <a:ea typeface="Roboto Mono"/>
              <a:cs typeface="Roboto Mono"/>
              <a:sym typeface="Roboto Mono"/>
            </a:endParaRPr>
          </a:p>
        </p:txBody>
      </p:sp>
      <p:sp>
        <p:nvSpPr>
          <p:cNvPr id="145" name="Google Shape;145;p24"/>
          <p:cNvSpPr txBox="1"/>
          <p:nvPr/>
        </p:nvSpPr>
        <p:spPr>
          <a:xfrm>
            <a:off x="4387800" y="1516125"/>
            <a:ext cx="6152400" cy="3093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rgbClr val="4DD0E1"/>
                </a:solidFill>
                <a:latin typeface="Roboto Mono"/>
                <a:ea typeface="Roboto Mono"/>
                <a:cs typeface="Roboto Mono"/>
                <a:sym typeface="Roboto Mono"/>
              </a:rPr>
              <a:t>import</a:t>
            </a:r>
            <a:r>
              <a:rPr lang="en" sz="1050">
                <a:solidFill>
                  <a:srgbClr val="ECEFF1"/>
                </a:solidFill>
                <a:latin typeface="Roboto Mono"/>
                <a:ea typeface="Roboto Mono"/>
                <a:cs typeface="Roboto Mono"/>
                <a:sym typeface="Roboto Mono"/>
              </a:rPr>
              <a:t> { useState } </a:t>
            </a:r>
            <a:r>
              <a:rPr lang="en" sz="1050">
                <a:solidFill>
                  <a:srgbClr val="4DD0E1"/>
                </a:solidFill>
                <a:latin typeface="Roboto Mono"/>
                <a:ea typeface="Roboto Mono"/>
                <a:cs typeface="Roboto Mono"/>
                <a:sym typeface="Roboto Mono"/>
              </a:rPr>
              <a:t>from</a:t>
            </a:r>
            <a:r>
              <a:rPr lang="en" sz="1050">
                <a:solidFill>
                  <a:srgbClr val="ECEFF1"/>
                </a:solidFill>
                <a:latin typeface="Roboto Mono"/>
                <a:ea typeface="Roboto Mono"/>
                <a:cs typeface="Roboto Mono"/>
                <a:sym typeface="Roboto Mono"/>
              </a:rPr>
              <a:t> </a:t>
            </a:r>
            <a:r>
              <a:rPr lang="en" sz="1050">
                <a:solidFill>
                  <a:srgbClr val="9CCC65"/>
                </a:solidFill>
                <a:latin typeface="Roboto Mono"/>
                <a:ea typeface="Roboto Mono"/>
                <a:cs typeface="Roboto Mono"/>
                <a:sym typeface="Roboto Mono"/>
              </a:rPr>
              <a:t>'react'</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4DD0E1"/>
                </a:solidFill>
                <a:latin typeface="Roboto Mono"/>
                <a:ea typeface="Roboto Mono"/>
                <a:cs typeface="Roboto Mono"/>
                <a:sym typeface="Roboto Mono"/>
              </a:rPr>
              <a:t>const</a:t>
            </a:r>
            <a:r>
              <a:rPr lang="en" sz="1050">
                <a:solidFill>
                  <a:srgbClr val="ECEFF1"/>
                </a:solidFill>
                <a:latin typeface="Roboto Mono"/>
                <a:ea typeface="Roboto Mono"/>
                <a:cs typeface="Roboto Mono"/>
                <a:sym typeface="Roboto Mono"/>
              </a:rPr>
              <a:t> App = () =&gt; {</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a:t>
            </a:r>
            <a:r>
              <a:rPr lang="en" sz="1050">
                <a:solidFill>
                  <a:srgbClr val="4DD0E1"/>
                </a:solidFill>
                <a:latin typeface="Roboto Mono"/>
                <a:ea typeface="Roboto Mono"/>
                <a:cs typeface="Roboto Mono"/>
                <a:sym typeface="Roboto Mono"/>
              </a:rPr>
              <a:t>const</a:t>
            </a:r>
            <a:r>
              <a:rPr lang="en" sz="1050">
                <a:solidFill>
                  <a:srgbClr val="ECEFF1"/>
                </a:solidFill>
                <a:latin typeface="Roboto Mono"/>
                <a:ea typeface="Roboto Mono"/>
                <a:cs typeface="Roboto Mono"/>
                <a:sym typeface="Roboto Mono"/>
              </a:rPr>
              <a:t> [hideMessage, setHideMessage] = useState(</a:t>
            </a:r>
            <a:r>
              <a:rPr lang="en" sz="1050">
                <a:solidFill>
                  <a:srgbClr val="4DD0E1"/>
                </a:solidFill>
                <a:latin typeface="Roboto Mono"/>
                <a:ea typeface="Roboto Mono"/>
                <a:cs typeface="Roboto Mono"/>
                <a:sym typeface="Roboto Mono"/>
              </a:rPr>
              <a:t>false</a:t>
            </a:r>
            <a:r>
              <a:rPr lang="en" sz="1050">
                <a:solidFill>
                  <a:srgbClr val="ECEFF1"/>
                </a:solidFill>
                <a:latin typeface="Roboto Mono"/>
                <a:ea typeface="Roboto Mono"/>
                <a:cs typeface="Roboto Mono"/>
                <a:sym typeface="Roboto Mono"/>
              </a:rPr>
              <a:t>);</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a:t>
            </a:r>
            <a:r>
              <a:rPr lang="en" sz="1050">
                <a:solidFill>
                  <a:srgbClr val="4DD0E1"/>
                </a:solidFill>
                <a:latin typeface="Roboto Mono"/>
                <a:ea typeface="Roboto Mono"/>
                <a:cs typeface="Roboto Mono"/>
                <a:sym typeface="Roboto Mono"/>
              </a:rPr>
              <a:t>const</a:t>
            </a:r>
            <a:r>
              <a:rPr lang="en" sz="1050">
                <a:solidFill>
                  <a:srgbClr val="ECEFF1"/>
                </a:solidFill>
                <a:latin typeface="Roboto Mono"/>
                <a:ea typeface="Roboto Mono"/>
                <a:cs typeface="Roboto Mono"/>
                <a:sym typeface="Roboto Mono"/>
              </a:rPr>
              <a:t> toggleMessage = (event) =&gt; {</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setHideMessage(!hideMessage);</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a:t>
            </a:r>
            <a:r>
              <a:rPr lang="en" sz="1050">
                <a:solidFill>
                  <a:srgbClr val="4DD0E1"/>
                </a:solidFill>
                <a:latin typeface="Roboto Mono"/>
                <a:ea typeface="Roboto Mono"/>
                <a:cs typeface="Roboto Mono"/>
                <a:sym typeface="Roboto Mono"/>
              </a:rPr>
              <a:t>return</a:t>
            </a:r>
            <a:r>
              <a:rPr lang="en" sz="1050">
                <a:solidFill>
                  <a:srgbClr val="ECEFF1"/>
                </a:solidFill>
                <a:latin typeface="Roboto Mono"/>
                <a:ea typeface="Roboto Mono"/>
                <a:cs typeface="Roboto Mono"/>
                <a:sym typeface="Roboto Mono"/>
              </a:rPr>
              <a:t> (&lt;div&gt;</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&lt;button onClick={toggleMessage}&gt;</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 !hideMessage ? </a:t>
            </a:r>
            <a:r>
              <a:rPr lang="en" sz="1050">
                <a:solidFill>
                  <a:srgbClr val="9CCC65"/>
                </a:solidFill>
                <a:latin typeface="Roboto Mono"/>
                <a:ea typeface="Roboto Mono"/>
                <a:cs typeface="Roboto Mono"/>
                <a:sym typeface="Roboto Mono"/>
              </a:rPr>
              <a:t>"Hide Message"</a:t>
            </a:r>
            <a:r>
              <a:rPr lang="en" sz="1050">
                <a:solidFill>
                  <a:srgbClr val="ECEFF1"/>
                </a:solidFill>
                <a:latin typeface="Roboto Mono"/>
                <a:ea typeface="Roboto Mono"/>
                <a:cs typeface="Roboto Mono"/>
                <a:sym typeface="Roboto Mono"/>
              </a:rPr>
              <a:t>: </a:t>
            </a:r>
            <a:r>
              <a:rPr lang="en" sz="1050">
                <a:solidFill>
                  <a:srgbClr val="9CCC65"/>
                </a:solidFill>
                <a:latin typeface="Roboto Mono"/>
                <a:ea typeface="Roboto Mono"/>
                <a:cs typeface="Roboto Mono"/>
                <a:sym typeface="Roboto Mono"/>
              </a:rPr>
              <a:t>"Show Message"</a:t>
            </a:r>
            <a:r>
              <a:rPr lang="en" sz="1050">
                <a:solidFill>
                  <a:srgbClr val="ECEFF1"/>
                </a:solidFill>
                <a:latin typeface="Roboto Mono"/>
                <a:ea typeface="Roboto Mono"/>
                <a:cs typeface="Roboto Mono"/>
                <a:sym typeface="Roboto Mono"/>
              </a:rPr>
              <a:t>}</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&lt;/button&gt;</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 !hideMessage &amp;&amp;</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&lt;p&gt;The secret message!&lt;/p&gt;</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&lt;/div&gt;);</a:t>
            </a:r>
            <a:endParaRPr sz="10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1050">
                <a:solidFill>
                  <a:srgbClr val="ECEFF1"/>
                </a:solidFill>
                <a:latin typeface="Roboto Mono"/>
                <a:ea typeface="Roboto Mono"/>
                <a:cs typeface="Roboto Mono"/>
                <a:sym typeface="Roboto Mono"/>
              </a:rPr>
              <a:t>}</a:t>
            </a:r>
            <a:endParaRPr sz="1050">
              <a:solidFill>
                <a:srgbClr val="ECEFF1"/>
              </a:solidFill>
              <a:latin typeface="Roboto Mono"/>
              <a:ea typeface="Roboto Mono"/>
              <a:cs typeface="Roboto Mono"/>
              <a:sym typeface="Roboto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title"/>
          </p:nvPr>
        </p:nvSpPr>
        <p:spPr>
          <a:xfrm>
            <a:off x="480750" y="1764950"/>
            <a:ext cx="8222100" cy="90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Example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Reading/Resources</a:t>
            </a:r>
            <a:endParaRPr/>
          </a:p>
        </p:txBody>
      </p:sp>
      <p:sp>
        <p:nvSpPr>
          <p:cNvPr id="156" name="Google Shape;156;p26"/>
          <p:cNvSpPr txBox="1"/>
          <p:nvPr>
            <p:ph idx="1" type="body"/>
          </p:nvPr>
        </p:nvSpPr>
        <p:spPr>
          <a:xfrm>
            <a:off x="387900" y="1289999"/>
            <a:ext cx="8368200" cy="30789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sz="1100"/>
              <a:t>useState.</a:t>
            </a:r>
            <a:endParaRPr sz="1100"/>
          </a:p>
          <a:p>
            <a:pPr indent="-298450" lvl="1" marL="914400" rtl="0" algn="l">
              <a:spcBef>
                <a:spcPts val="0"/>
              </a:spcBef>
              <a:spcAft>
                <a:spcPts val="0"/>
              </a:spcAft>
              <a:buSzPts val="1100"/>
              <a:buChar char="○"/>
            </a:pPr>
            <a:r>
              <a:rPr lang="en" sz="1100" u="sng">
                <a:solidFill>
                  <a:schemeClr val="hlink"/>
                </a:solidFill>
                <a:latin typeface="Arial"/>
                <a:ea typeface="Arial"/>
                <a:cs typeface="Arial"/>
                <a:sym typeface="Arial"/>
                <a:hlinkClick r:id="rId3"/>
              </a:rPr>
              <a:t>https://reactjs.org/docs/hooks-state.html</a:t>
            </a:r>
            <a:endParaRPr sz="1100"/>
          </a:p>
          <a:p>
            <a:pPr indent="-298450" lvl="0" marL="457200" rtl="0" algn="l">
              <a:spcBef>
                <a:spcPts val="0"/>
              </a:spcBef>
              <a:spcAft>
                <a:spcPts val="0"/>
              </a:spcAft>
              <a:buSzPts val="1100"/>
              <a:buChar char="●"/>
            </a:pPr>
            <a:r>
              <a:rPr lang="en" sz="1100"/>
              <a:t>Hooks Introduction</a:t>
            </a:r>
            <a:endParaRPr sz="1100"/>
          </a:p>
          <a:p>
            <a:pPr indent="-298450" lvl="1" marL="914400" rtl="0" algn="l">
              <a:spcBef>
                <a:spcPts val="0"/>
              </a:spcBef>
              <a:spcAft>
                <a:spcPts val="0"/>
              </a:spcAft>
              <a:buSzPts val="1100"/>
              <a:buChar char="○"/>
            </a:pPr>
            <a:r>
              <a:rPr lang="en" sz="1100" u="sng">
                <a:solidFill>
                  <a:schemeClr val="hlink"/>
                </a:solidFill>
                <a:hlinkClick r:id="rId4"/>
              </a:rPr>
              <a:t>https://reactjs.org/docs/hooks-intro.html</a:t>
            </a:r>
            <a:r>
              <a:rPr lang="en" sz="1100"/>
              <a:t> </a:t>
            </a:r>
            <a:endParaRPr sz="1100"/>
          </a:p>
          <a:p>
            <a:pPr indent="-298450" lvl="0" marL="457200" rtl="0" algn="l">
              <a:spcBef>
                <a:spcPts val="0"/>
              </a:spcBef>
              <a:spcAft>
                <a:spcPts val="0"/>
              </a:spcAft>
              <a:buSzPts val="1100"/>
              <a:buChar char="●"/>
            </a:pPr>
            <a:r>
              <a:rPr lang="en" sz="1100"/>
              <a:t>Class Lifecycle</a:t>
            </a:r>
            <a:endParaRPr sz="1100"/>
          </a:p>
          <a:p>
            <a:pPr indent="-298450" lvl="1" marL="914400" rtl="0" algn="l">
              <a:spcBef>
                <a:spcPts val="0"/>
              </a:spcBef>
              <a:spcAft>
                <a:spcPts val="0"/>
              </a:spcAft>
              <a:buSzPts val="1100"/>
              <a:buChar char="○"/>
            </a:pPr>
            <a:r>
              <a:rPr lang="en" sz="1100" u="sng">
                <a:solidFill>
                  <a:schemeClr val="hlink"/>
                </a:solidFill>
                <a:hlinkClick r:id="rId5"/>
              </a:rPr>
              <a:t>https://reactjs.org/docs/state-and-lifecycle.html</a:t>
            </a:r>
            <a:r>
              <a:rPr lang="en" sz="1100"/>
              <a:t> </a:t>
            </a:r>
            <a:endParaRPr sz="1100"/>
          </a:p>
          <a:p>
            <a:pPr indent="-298450" lvl="0" marL="457200" rtl="0" algn="l">
              <a:spcBef>
                <a:spcPts val="0"/>
              </a:spcBef>
              <a:spcAft>
                <a:spcPts val="0"/>
              </a:spcAft>
              <a:buSzPts val="1100"/>
              <a:buChar char="●"/>
            </a:pPr>
            <a:r>
              <a:rPr lang="en" sz="1100"/>
              <a:t>Handling Events in React:</a:t>
            </a:r>
            <a:endParaRPr sz="1100"/>
          </a:p>
          <a:p>
            <a:pPr indent="-298450" lvl="1" marL="914400" rtl="0" algn="l">
              <a:spcBef>
                <a:spcPts val="0"/>
              </a:spcBef>
              <a:spcAft>
                <a:spcPts val="0"/>
              </a:spcAft>
              <a:buSzPts val="1100"/>
              <a:buChar char="○"/>
            </a:pPr>
            <a:r>
              <a:rPr lang="en" sz="1100" u="sng">
                <a:solidFill>
                  <a:schemeClr val="hlink"/>
                </a:solidFill>
                <a:hlinkClick r:id="rId6"/>
              </a:rPr>
              <a:t>https://reactjs.org/docs/handling-events.html</a:t>
            </a:r>
            <a:r>
              <a:rPr lang="en" sz="1100"/>
              <a:t> </a:t>
            </a:r>
            <a:endParaRPr sz="1100"/>
          </a:p>
          <a:p>
            <a:pPr indent="-298450" lvl="0" marL="457200" rtl="0" algn="l">
              <a:spcBef>
                <a:spcPts val="0"/>
              </a:spcBef>
              <a:spcAft>
                <a:spcPts val="0"/>
              </a:spcAft>
              <a:buSzPts val="1100"/>
              <a:buChar char="●"/>
            </a:pPr>
            <a:r>
              <a:rPr lang="en" sz="1100"/>
              <a:t>Events Documentation in React:</a:t>
            </a:r>
            <a:endParaRPr sz="1100"/>
          </a:p>
          <a:p>
            <a:pPr indent="-298450" lvl="1" marL="914400" rtl="0" algn="l">
              <a:spcBef>
                <a:spcPts val="0"/>
              </a:spcBef>
              <a:spcAft>
                <a:spcPts val="0"/>
              </a:spcAft>
              <a:buSzPts val="1100"/>
              <a:buChar char="○"/>
            </a:pPr>
            <a:r>
              <a:rPr lang="en" sz="1100" u="sng">
                <a:solidFill>
                  <a:schemeClr val="hlink"/>
                </a:solidFill>
                <a:hlinkClick r:id="rId7"/>
              </a:rPr>
              <a:t>https://reactjs.org/docs/events.html</a:t>
            </a:r>
            <a:r>
              <a:rPr lang="en" sz="1100"/>
              <a:t> </a:t>
            </a:r>
            <a:endParaRPr sz="1100"/>
          </a:p>
          <a:p>
            <a:pPr indent="0" lvl="0" marL="0" rtl="0" algn="l">
              <a:spcBef>
                <a:spcPts val="1600"/>
              </a:spcBef>
              <a:spcAft>
                <a:spcPts val="1600"/>
              </a:spcAft>
              <a:buNone/>
            </a:pPr>
            <a:r>
              <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