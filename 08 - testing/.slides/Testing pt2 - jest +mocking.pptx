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Roboto Slab"/>
      <p:regular r:id="rId16"/>
      <p:bold r:id="rId17"/>
    </p:embeddedFont>
    <p:embeddedFont>
      <p:font typeface="Roboto"/>
      <p:regular r:id="rId18"/>
      <p:bold r:id="rId19"/>
      <p:italic r:id="rId20"/>
      <p:boldItalic r:id="rId21"/>
    </p:embeddedFon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RobotoMono-regular.fntdata"/><Relationship Id="rId21" Type="http://schemas.openxmlformats.org/officeDocument/2006/relationships/font" Target="fonts/Roboto-boldItalic.fntdata"/><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RobotoMon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Slab-bold.fntdata"/><Relationship Id="rId16" Type="http://schemas.openxmlformats.org/officeDocument/2006/relationships/font" Target="fonts/RobotoSlab-regular.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ad3a4879e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ad3a4879e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141908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141908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5ad3a487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5ad3a487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a71e9ccb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a71e9ccb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7f3e6562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7f3e6562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a71e9ccbc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a71e9ccbc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a71e9ccbc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a71e9ccbc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a71e9ccbc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a71e9ccbc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7bc0a4b2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7bc0a4b2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7b7fcc622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7b7fcc622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jestjs.io/docs/en/expec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mswjs.io/docs/getting-started/install" TargetMode="External"/><Relationship Id="rId4" Type="http://schemas.openxmlformats.org/officeDocument/2006/relationships/hyperlink" Target="https://github.com/matthew-andrews/isomorphic-fetch"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nextjs.org/docs/testing#jest-and-react-testing-library" TargetMode="External"/><Relationship Id="rId4" Type="http://schemas.openxmlformats.org/officeDocument/2006/relationships/hyperlink" Target="https://mswjs.io/docs/getting-started" TargetMode="External"/><Relationship Id="rId5" Type="http://schemas.openxmlformats.org/officeDocument/2006/relationships/hyperlink" Target="https://github.com/matthew-andrews/isomorphic-fet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Testing with Jest</a:t>
            </a:r>
            <a:endParaRPr/>
          </a:p>
          <a:p>
            <a:pPr indent="0" lvl="0" marL="0" rtl="0" algn="ctr">
              <a:spcBef>
                <a:spcPts val="0"/>
              </a:spcBef>
              <a:spcAft>
                <a:spcPts val="0"/>
              </a:spcAft>
              <a:buNone/>
            </a:pPr>
            <a:r>
              <a:rPr lang="en"/>
              <a:t>Expect and Mocks</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Javascript DMIT 2008</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48400" y="1440025"/>
            <a:ext cx="4045200" cy="150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are we?</a:t>
            </a:r>
            <a:endParaRPr/>
          </a:p>
        </p:txBody>
      </p:sp>
      <p:sp>
        <p:nvSpPr>
          <p:cNvPr id="75" name="Google Shape;75;p15"/>
          <p:cNvSpPr txBox="1"/>
          <p:nvPr>
            <p:ph idx="2" type="body"/>
          </p:nvPr>
        </p:nvSpPr>
        <p:spPr>
          <a:xfrm>
            <a:off x="4946900" y="1086825"/>
            <a:ext cx="4297200" cy="36951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SzPts val="1600"/>
              <a:buAutoNum type="arabicPeriod"/>
            </a:pPr>
            <a:r>
              <a:rPr lang="en" sz="1600"/>
              <a:t>Expectations</a:t>
            </a:r>
            <a:endParaRPr sz="1600"/>
          </a:p>
          <a:p>
            <a:pPr indent="-330200" lvl="0" marL="457200" rtl="0" algn="l">
              <a:spcBef>
                <a:spcPts val="0"/>
              </a:spcBef>
              <a:spcAft>
                <a:spcPts val="0"/>
              </a:spcAft>
              <a:buSzPts val="1600"/>
              <a:buAutoNum type="arabicPeriod"/>
            </a:pPr>
            <a:r>
              <a:rPr lang="en" sz="1600"/>
              <a:t>A Short Review of Testing</a:t>
            </a:r>
            <a:endParaRPr sz="1600"/>
          </a:p>
          <a:p>
            <a:pPr indent="-330200" lvl="0" marL="457200" rtl="0" algn="l">
              <a:spcBef>
                <a:spcPts val="0"/>
              </a:spcBef>
              <a:spcAft>
                <a:spcPts val="0"/>
              </a:spcAft>
              <a:buSzPts val="1600"/>
              <a:buAutoNum type="arabicPeriod"/>
            </a:pPr>
            <a:r>
              <a:rPr lang="en" sz="1600"/>
              <a:t>A Deeper Look at Jests’ Expect</a:t>
            </a:r>
            <a:endParaRPr sz="1600"/>
          </a:p>
          <a:p>
            <a:pPr indent="-330200" lvl="0" marL="457200" rtl="0" algn="l">
              <a:spcBef>
                <a:spcPts val="0"/>
              </a:spcBef>
              <a:spcAft>
                <a:spcPts val="0"/>
              </a:spcAft>
              <a:buSzPts val="1600"/>
              <a:buAutoNum type="arabicPeriod"/>
            </a:pPr>
            <a:r>
              <a:rPr lang="en" sz="1600"/>
              <a:t>Mocking: Testing Code with Dependencies</a:t>
            </a:r>
            <a:endParaRPr sz="1600"/>
          </a:p>
          <a:p>
            <a:pPr indent="-330200" lvl="0" marL="457200" rtl="0" algn="l">
              <a:spcBef>
                <a:spcPts val="0"/>
              </a:spcBef>
              <a:spcAft>
                <a:spcPts val="0"/>
              </a:spcAft>
              <a:buSzPts val="1600"/>
              <a:buAutoNum type="arabicPeriod"/>
            </a:pPr>
            <a:r>
              <a:rPr lang="en" sz="1600"/>
              <a:t>Mocking with Mock Server Worker</a:t>
            </a:r>
            <a:endParaRPr sz="1600"/>
          </a:p>
          <a:p>
            <a:pPr indent="-330200" lvl="0" marL="457200" rtl="0" algn="l">
              <a:spcBef>
                <a:spcPts val="0"/>
              </a:spcBef>
              <a:spcAft>
                <a:spcPts val="0"/>
              </a:spcAft>
              <a:buSzPts val="1600"/>
              <a:buAutoNum type="arabicPeriod"/>
            </a:pPr>
            <a:r>
              <a:rPr lang="en" sz="1600"/>
              <a:t>Setting up Mock Service Worker in our tests</a:t>
            </a:r>
            <a:endParaRPr sz="1600"/>
          </a:p>
          <a:p>
            <a:pPr indent="-330200" lvl="0" marL="457200" rtl="0" algn="l">
              <a:spcBef>
                <a:spcPts val="0"/>
              </a:spcBef>
              <a:spcAft>
                <a:spcPts val="0"/>
              </a:spcAft>
              <a:buSzPts val="1600"/>
              <a:buAutoNum type="arabicPeriod"/>
            </a:pPr>
            <a:r>
              <a:rPr lang="en" sz="1600"/>
              <a:t>Testing Example</a:t>
            </a:r>
            <a:endParaRPr sz="1600"/>
          </a:p>
          <a:p>
            <a:pPr indent="0" lvl="0" marL="457200" rtl="0" algn="l">
              <a:spcBef>
                <a:spcPts val="1600"/>
              </a:spcBef>
              <a:spcAft>
                <a:spcPts val="0"/>
              </a:spcAft>
              <a:buNone/>
            </a:pPr>
            <a:r>
              <a:t/>
            </a:r>
            <a:endParaRPr sz="1600"/>
          </a:p>
          <a:p>
            <a:pPr indent="0" lvl="0" marL="457200" rtl="0" algn="l">
              <a:spcBef>
                <a:spcPts val="1600"/>
              </a:spcBef>
              <a:spcAft>
                <a:spcPts val="16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Expectations - What I expect from you</a:t>
            </a:r>
            <a:endParaRPr/>
          </a:p>
        </p:txBody>
      </p:sp>
      <p:sp>
        <p:nvSpPr>
          <p:cNvPr id="81" name="Google Shape;81;p1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No Late Assignments</a:t>
            </a:r>
            <a:endParaRPr/>
          </a:p>
          <a:p>
            <a:pPr indent="-342900" lvl="0" marL="457200" rtl="0" algn="l">
              <a:spcBef>
                <a:spcPts val="0"/>
              </a:spcBef>
              <a:spcAft>
                <a:spcPts val="0"/>
              </a:spcAft>
              <a:buSzPts val="1800"/>
              <a:buAutoNum type="arabicPeriod"/>
            </a:pPr>
            <a:r>
              <a:rPr lang="en"/>
              <a:t>No Cheating</a:t>
            </a:r>
            <a:endParaRPr/>
          </a:p>
          <a:p>
            <a:pPr indent="-342900" lvl="0" marL="457200" rtl="0" algn="l">
              <a:spcBef>
                <a:spcPts val="0"/>
              </a:spcBef>
              <a:spcAft>
                <a:spcPts val="0"/>
              </a:spcAft>
              <a:buSzPts val="1800"/>
              <a:buAutoNum type="arabicPeriod"/>
            </a:pPr>
            <a:r>
              <a:rPr lang="en"/>
              <a:t>Be a good classmate</a:t>
            </a:r>
            <a:endParaRPr/>
          </a:p>
          <a:p>
            <a:pPr indent="-342900" lvl="0" marL="457200" rtl="0" algn="l">
              <a:spcBef>
                <a:spcPts val="0"/>
              </a:spcBef>
              <a:spcAft>
                <a:spcPts val="0"/>
              </a:spcAft>
              <a:buSzPts val="1800"/>
              <a:buAutoNum type="arabicPeriod"/>
            </a:pPr>
            <a:r>
              <a:rPr lang="en"/>
              <a:t>Don’t go to stupid sites in class </a:t>
            </a:r>
            <a:endParaRPr/>
          </a:p>
          <a:p>
            <a:pPr indent="-342900" lvl="0" marL="457200" rtl="0" algn="l">
              <a:spcBef>
                <a:spcPts val="0"/>
              </a:spcBef>
              <a:spcAft>
                <a:spcPts val="0"/>
              </a:spcAft>
              <a:buSzPts val="1800"/>
              <a:buAutoNum type="arabicPeriod"/>
            </a:pPr>
            <a:r>
              <a:rPr lang="en"/>
              <a:t>Show up to class </a:t>
            </a:r>
            <a:br>
              <a:rPr lang="en"/>
            </a:br>
            <a:r>
              <a:rPr lang="en"/>
              <a:t>(10 mins I shut the door. Send me a message if you show up all the time or if you get in an accident and I’ll let you 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Testing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Deeper look at the “Expect” syntax in Jest</a:t>
            </a:r>
            <a:endParaRPr/>
          </a:p>
        </p:txBody>
      </p:sp>
      <p:sp>
        <p:nvSpPr>
          <p:cNvPr id="92" name="Google Shape;92;p18"/>
          <p:cNvSpPr txBox="1"/>
          <p:nvPr>
            <p:ph idx="1" type="body"/>
          </p:nvPr>
        </p:nvSpPr>
        <p:spPr>
          <a:xfrm>
            <a:off x="387900" y="1261225"/>
            <a:ext cx="35076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The whole premise of testing is to check if values of your code meet certain conditions. Expect is a jest interface that allows you to “expect” your code to meet different criteria.</a:t>
            </a:r>
            <a:endParaRPr sz="1200"/>
          </a:p>
          <a:p>
            <a:pPr indent="0" lvl="0" marL="0" rtl="0" algn="l">
              <a:spcBef>
                <a:spcPts val="1600"/>
              </a:spcBef>
              <a:spcAft>
                <a:spcPts val="0"/>
              </a:spcAft>
              <a:buNone/>
            </a:pPr>
            <a:r>
              <a:rPr lang="en" sz="1200"/>
              <a:t>On the right we have an example where we check different conditions, :</a:t>
            </a:r>
            <a:endParaRPr sz="1200"/>
          </a:p>
          <a:p>
            <a:pPr indent="-317500" lvl="0" marL="457200" rtl="0" algn="l">
              <a:spcBef>
                <a:spcPts val="1600"/>
              </a:spcBef>
              <a:spcAft>
                <a:spcPts val="0"/>
              </a:spcAft>
              <a:buSzPts val="1400"/>
              <a:buChar char="●"/>
            </a:pPr>
            <a:r>
              <a:rPr lang="en" sz="1200"/>
              <a:t>Check if “</a:t>
            </a:r>
            <a:r>
              <a:rPr lang="en" sz="950">
                <a:solidFill>
                  <a:srgbClr val="ECEFF1"/>
                </a:solidFill>
                <a:latin typeface="Roboto Mono"/>
                <a:ea typeface="Roboto Mono"/>
                <a:cs typeface="Roboto Mono"/>
                <a:sym typeface="Roboto Mono"/>
              </a:rPr>
              <a:t>exampleResult</a:t>
            </a:r>
            <a:r>
              <a:rPr lang="en" sz="1200"/>
              <a:t>” is an object</a:t>
            </a:r>
            <a:endParaRPr sz="1200"/>
          </a:p>
          <a:p>
            <a:pPr indent="-311150" lvl="0" marL="457200" rtl="0" algn="l">
              <a:spcBef>
                <a:spcPts val="0"/>
              </a:spcBef>
              <a:spcAft>
                <a:spcPts val="0"/>
              </a:spcAft>
              <a:buSzPts val="1300"/>
              <a:buChar char="●"/>
            </a:pPr>
            <a:r>
              <a:rPr lang="en" sz="1200"/>
              <a:t>Check if the “</a:t>
            </a:r>
            <a:r>
              <a:rPr lang="en" sz="1050">
                <a:solidFill>
                  <a:srgbClr val="ECEFF1"/>
                </a:solidFill>
                <a:latin typeface="Roboto Mono"/>
                <a:ea typeface="Roboto Mono"/>
                <a:cs typeface="Roboto Mono"/>
                <a:sym typeface="Roboto Mono"/>
              </a:rPr>
              <a:t>name</a:t>
            </a:r>
            <a:r>
              <a:rPr lang="en" sz="1200"/>
              <a:t>” property is a string and that it’s equal to “</a:t>
            </a:r>
            <a:r>
              <a:rPr lang="en" sz="1050">
                <a:solidFill>
                  <a:srgbClr val="9CCC65"/>
                </a:solidFill>
                <a:latin typeface="Roboto Mono"/>
                <a:ea typeface="Roboto Mono"/>
                <a:cs typeface="Roboto Mono"/>
                <a:sym typeface="Roboto Mono"/>
              </a:rPr>
              <a:t>'Dan'</a:t>
            </a:r>
            <a:r>
              <a:rPr lang="en" sz="1200"/>
              <a:t>”</a:t>
            </a:r>
            <a:endParaRPr sz="1200"/>
          </a:p>
          <a:p>
            <a:pPr indent="-311150" lvl="0" marL="457200" rtl="0" algn="l">
              <a:spcBef>
                <a:spcPts val="0"/>
              </a:spcBef>
              <a:spcAft>
                <a:spcPts val="0"/>
              </a:spcAft>
              <a:buSzPts val="1300"/>
              <a:buChar char="●"/>
            </a:pPr>
            <a:r>
              <a:rPr lang="en" sz="1200"/>
              <a:t>Check “</a:t>
            </a:r>
            <a:r>
              <a:rPr lang="en" sz="1050">
                <a:solidFill>
                  <a:srgbClr val="ECEFF1"/>
                </a:solidFill>
                <a:latin typeface="Roboto Mono"/>
                <a:ea typeface="Roboto Mono"/>
                <a:cs typeface="Roboto Mono"/>
                <a:sym typeface="Roboto Mono"/>
              </a:rPr>
              <a:t>animals</a:t>
            </a:r>
            <a:r>
              <a:rPr lang="en" sz="1200"/>
              <a:t>” property is an array and that it has 3 items in it.</a:t>
            </a:r>
            <a:endParaRPr sz="1200"/>
          </a:p>
          <a:p>
            <a:pPr indent="0" lvl="0" marL="0" rtl="0" algn="l">
              <a:spcBef>
                <a:spcPts val="1600"/>
              </a:spcBef>
              <a:spcAft>
                <a:spcPts val="1600"/>
              </a:spcAft>
              <a:buNone/>
            </a:pPr>
            <a:r>
              <a:rPr lang="en" sz="1200"/>
              <a:t>There’s a whole bunch of conditions that you can expect by taking a look at the following docs too: </a:t>
            </a:r>
            <a:r>
              <a:rPr lang="en" sz="1200" u="sng">
                <a:solidFill>
                  <a:schemeClr val="hlink"/>
                </a:solidFill>
                <a:hlinkClick r:id="rId3"/>
              </a:rPr>
              <a:t>https://jestjs.io/docs/en/expect</a:t>
            </a:r>
            <a:r>
              <a:rPr lang="en" sz="1200"/>
              <a:t> </a:t>
            </a:r>
            <a:endParaRPr sz="1200"/>
          </a:p>
        </p:txBody>
      </p:sp>
      <p:sp>
        <p:nvSpPr>
          <p:cNvPr id="93" name="Google Shape;93;p18"/>
          <p:cNvSpPr txBox="1"/>
          <p:nvPr>
            <p:ph idx="2" type="body"/>
          </p:nvPr>
        </p:nvSpPr>
        <p:spPr>
          <a:xfrm>
            <a:off x="4032775" y="1213525"/>
            <a:ext cx="3999900" cy="419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Example (we’ll take a look at this soon):</a:t>
            </a:r>
            <a:endParaRPr/>
          </a:p>
        </p:txBody>
      </p:sp>
      <p:sp>
        <p:nvSpPr>
          <p:cNvPr id="94" name="Google Shape;94;p18"/>
          <p:cNvSpPr txBox="1"/>
          <p:nvPr/>
        </p:nvSpPr>
        <p:spPr>
          <a:xfrm>
            <a:off x="3975000" y="1548725"/>
            <a:ext cx="52083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exampleResult =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'name'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'Dan'</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'animals'</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'name'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'name'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'name'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'Gambit'</a:t>
            </a:r>
            <a:r>
              <a:rPr lang="en" sz="1150">
                <a:solidFill>
                  <a:srgbClr val="ECEFF1"/>
                </a:solidFill>
                <a:latin typeface="Roboto Mono"/>
                <a:ea typeface="Roboto Mono"/>
                <a:cs typeface="Roboto Mono"/>
                <a:sym typeface="Roboto Mono"/>
              </a:rPr>
              <a:t> },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should be an object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expect(</a:t>
            </a:r>
            <a:r>
              <a:rPr lang="en" sz="1150">
                <a:solidFill>
                  <a:srgbClr val="4DD0E1"/>
                </a:solidFill>
                <a:latin typeface="Roboto Mono"/>
                <a:ea typeface="Roboto Mono"/>
                <a:cs typeface="Roboto Mono"/>
                <a:sym typeface="Roboto Mono"/>
              </a:rPr>
              <a:t>typeof</a:t>
            </a:r>
            <a:r>
              <a:rPr lang="en" sz="1150">
                <a:solidFill>
                  <a:srgbClr val="ECEFF1"/>
                </a:solidFill>
                <a:latin typeface="Roboto Mono"/>
                <a:ea typeface="Roboto Mono"/>
                <a:cs typeface="Roboto Mono"/>
                <a:sym typeface="Roboto Mono"/>
              </a:rPr>
              <a:t> exampleResult).toBe(</a:t>
            </a:r>
            <a:r>
              <a:rPr lang="en" sz="1150">
                <a:solidFill>
                  <a:srgbClr val="9CCC65"/>
                </a:solidFill>
                <a:latin typeface="Roboto Mono"/>
                <a:ea typeface="Roboto Mono"/>
                <a:cs typeface="Roboto Mono"/>
                <a:sym typeface="Roboto Mono"/>
              </a:rPr>
              <a:t>'object'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check the name</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ECEFF1"/>
                </a:solidFill>
                <a:latin typeface="Roboto Mono"/>
                <a:ea typeface="Roboto Mono"/>
                <a:cs typeface="Roboto Mono"/>
                <a:sym typeface="Roboto Mono"/>
              </a:rPr>
              <a:t>expect(</a:t>
            </a:r>
            <a:r>
              <a:rPr lang="en" sz="1150">
                <a:solidFill>
                  <a:srgbClr val="4DD0E1"/>
                </a:solidFill>
                <a:latin typeface="Roboto Mono"/>
                <a:ea typeface="Roboto Mono"/>
                <a:cs typeface="Roboto Mono"/>
                <a:sym typeface="Roboto Mono"/>
              </a:rPr>
              <a:t>typeof</a:t>
            </a:r>
            <a:r>
              <a:rPr lang="en" sz="1150">
                <a:solidFill>
                  <a:srgbClr val="ECEFF1"/>
                </a:solidFill>
                <a:latin typeface="Roboto Mono"/>
                <a:ea typeface="Roboto Mono"/>
                <a:cs typeface="Roboto Mono"/>
                <a:sym typeface="Roboto Mono"/>
              </a:rPr>
              <a:t> exampleResult.name).toBe(</a:t>
            </a:r>
            <a:r>
              <a:rPr lang="en" sz="1150">
                <a:solidFill>
                  <a:srgbClr val="9CCC65"/>
                </a:solidFill>
                <a:latin typeface="Roboto Mono"/>
                <a:ea typeface="Roboto Mono"/>
                <a:cs typeface="Roboto Mono"/>
                <a:sym typeface="Roboto Mono"/>
              </a:rPr>
              <a:t>'string'</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expect(exampleResult.name).toEqual(</a:t>
            </a:r>
            <a:r>
              <a:rPr lang="en" sz="1150">
                <a:solidFill>
                  <a:srgbClr val="9CCC65"/>
                </a:solidFill>
                <a:latin typeface="Roboto Mono"/>
                <a:ea typeface="Roboto Mono"/>
                <a:cs typeface="Roboto Mono"/>
                <a:sym typeface="Roboto Mono"/>
              </a:rPr>
              <a:t>'Dan'</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150">
                <a:solidFill>
                  <a:srgbClr val="F06292"/>
                </a:solidFill>
                <a:latin typeface="Roboto Mono"/>
                <a:ea typeface="Roboto Mono"/>
                <a:cs typeface="Roboto Mono"/>
                <a:sym typeface="Roboto Mono"/>
              </a:rPr>
              <a:t>// check the animals array</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expect(exampleResult.animals).toEqual(expect.any(</a:t>
            </a:r>
            <a:r>
              <a:rPr lang="en" sz="1150">
                <a:solidFill>
                  <a:srgbClr val="CE93D8"/>
                </a:solidFill>
                <a:latin typeface="Roboto Mono"/>
                <a:ea typeface="Roboto Mono"/>
                <a:cs typeface="Roboto Mono"/>
                <a:sym typeface="Roboto Mono"/>
              </a:rPr>
              <a:t>Array</a:t>
            </a:r>
            <a:r>
              <a:rPr lang="en" sz="1150">
                <a:solidFill>
                  <a:srgbClr val="ECEFF1"/>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expect(exampleResult.animals.length).toEqual(</a:t>
            </a:r>
            <a:r>
              <a:rPr lang="en" sz="1150">
                <a:solidFill>
                  <a:srgbClr val="FBC02D"/>
                </a:solidFill>
                <a:latin typeface="Roboto Mono"/>
                <a:ea typeface="Roboto Mono"/>
                <a:cs typeface="Roboto Mono"/>
                <a:sym typeface="Roboto Mono"/>
              </a:rPr>
              <a:t>3</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Mocking: Testing Code with Dependencies</a:t>
            </a:r>
            <a:endParaRPr/>
          </a:p>
        </p:txBody>
      </p:sp>
      <p:sp>
        <p:nvSpPr>
          <p:cNvPr id="100" name="Google Shape;100;p19"/>
          <p:cNvSpPr txBox="1"/>
          <p:nvPr>
            <p:ph idx="1" type="body"/>
          </p:nvPr>
        </p:nvSpPr>
        <p:spPr>
          <a:xfrm>
            <a:off x="387900" y="123819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In Unit Tests, which is primarily what we’re going to write and have been writing (to this point) we want to test our code, and our code only. This means that we’re not testing Restful APIs, or external packages.</a:t>
            </a:r>
            <a:endParaRPr sz="1400"/>
          </a:p>
          <a:p>
            <a:pPr indent="-317500" lvl="0" marL="457200" rtl="0" algn="l">
              <a:spcBef>
                <a:spcPts val="1600"/>
              </a:spcBef>
              <a:spcAft>
                <a:spcPts val="0"/>
              </a:spcAft>
              <a:buSzPts val="1400"/>
              <a:buChar char="●"/>
            </a:pPr>
            <a:r>
              <a:rPr b="1" lang="en" sz="1400"/>
              <a:t>Why not test external RESTful APIs?</a:t>
            </a:r>
            <a:r>
              <a:rPr lang="en" sz="1400"/>
              <a:t> </a:t>
            </a:r>
            <a:br>
              <a:rPr lang="en" sz="1400"/>
            </a:br>
            <a:r>
              <a:rPr lang="en" sz="1400"/>
              <a:t>We want to make our tests fast (network calls are slow) and as well we don’t want to change anything if we use a “Post” or “Update” request. As well we can’t guarantee that our apis are going to give us the same result. As well the RESTful API is most likely tested by the API developers.</a:t>
            </a:r>
            <a:endParaRPr sz="1400"/>
          </a:p>
          <a:p>
            <a:pPr indent="-317500" lvl="0" marL="457200" rtl="0" algn="l">
              <a:spcBef>
                <a:spcPts val="0"/>
              </a:spcBef>
              <a:spcAft>
                <a:spcPts val="0"/>
              </a:spcAft>
              <a:buSzPts val="1400"/>
              <a:buChar char="●"/>
            </a:pPr>
            <a:r>
              <a:rPr b="1" lang="en" sz="1400"/>
              <a:t>Why not test external packages?</a:t>
            </a:r>
            <a:r>
              <a:rPr lang="en" sz="1400"/>
              <a:t> </a:t>
            </a:r>
            <a:br>
              <a:rPr lang="en" sz="1400"/>
            </a:br>
            <a:r>
              <a:rPr lang="en" sz="1400"/>
              <a:t>That’s outside of the scope of your project testing. The only thing that you should be testing is if you’re calling the external package with the correct parameters.</a:t>
            </a:r>
            <a:endParaRPr sz="1400"/>
          </a:p>
          <a:p>
            <a:pPr indent="0" lvl="0" marL="0" rtl="0" algn="l">
              <a:spcBef>
                <a:spcPts val="1600"/>
              </a:spcBef>
              <a:spcAft>
                <a:spcPts val="0"/>
              </a:spcAft>
              <a:buNone/>
            </a:pPr>
            <a:r>
              <a:rPr lang="en" sz="1400"/>
              <a:t>Basically you just want to test your functionality for the “units” and not test things that might take a while.</a:t>
            </a:r>
            <a:endParaRPr sz="1400"/>
          </a:p>
          <a:p>
            <a:pPr indent="0" lvl="0" marL="0" rtl="0" algn="l">
              <a:spcBef>
                <a:spcPts val="1600"/>
              </a:spcBef>
              <a:spcAft>
                <a:spcPts val="0"/>
              </a:spcAft>
              <a:buNone/>
            </a:pPr>
            <a:r>
              <a:t/>
            </a:r>
            <a:endParaRPr sz="1400"/>
          </a:p>
          <a:p>
            <a:pPr indent="0" lvl="0" marL="0" rtl="0" algn="l">
              <a:spcBef>
                <a:spcPts val="1600"/>
              </a:spcBef>
              <a:spcAft>
                <a:spcPts val="1600"/>
              </a:spcAft>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Mocking with Mock Service Worker</a:t>
            </a:r>
            <a:endParaRPr/>
          </a:p>
        </p:txBody>
      </p:sp>
      <p:sp>
        <p:nvSpPr>
          <p:cNvPr id="106" name="Google Shape;106;p20"/>
          <p:cNvSpPr txBox="1"/>
          <p:nvPr>
            <p:ph idx="1" type="body"/>
          </p:nvPr>
        </p:nvSpPr>
        <p:spPr>
          <a:xfrm>
            <a:off x="387900" y="123819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Jest and React and in JavaScript in general there’s a lot of libraries that you can use. We’re going to use</a:t>
            </a:r>
            <a:r>
              <a:rPr lang="en" u="sng">
                <a:solidFill>
                  <a:schemeClr val="hlink"/>
                </a:solidFill>
                <a:hlinkClick r:id="rId3"/>
              </a:rPr>
              <a:t> “Mock Service Worker” (msw)</a:t>
            </a:r>
            <a:r>
              <a:rPr lang="en"/>
              <a:t> and </a:t>
            </a:r>
            <a:r>
              <a:rPr lang="en" u="sng">
                <a:solidFill>
                  <a:schemeClr val="hlink"/>
                </a:solidFill>
                <a:hlinkClick r:id="rId4"/>
              </a:rPr>
              <a:t>“Isomorphic Fetch”</a:t>
            </a:r>
            <a:r>
              <a:rPr lang="en"/>
              <a:t> to do the work for us.</a:t>
            </a:r>
            <a:endParaRPr/>
          </a:p>
          <a:p>
            <a:pPr indent="0" lvl="0" marL="0" rtl="0" algn="l">
              <a:spcBef>
                <a:spcPts val="1600"/>
              </a:spcBef>
              <a:spcAft>
                <a:spcPts val="0"/>
              </a:spcAft>
              <a:buNone/>
            </a:pPr>
            <a:r>
              <a:rPr lang="en"/>
              <a:t>Here’s how to install both at once:</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Now you just need to setup a server in your tests and you’re ready to test!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07" name="Google Shape;107;p20"/>
          <p:cNvSpPr txBox="1"/>
          <p:nvPr/>
        </p:nvSpPr>
        <p:spPr>
          <a:xfrm>
            <a:off x="533625" y="2884550"/>
            <a:ext cx="5091300" cy="361800"/>
          </a:xfrm>
          <a:prstGeom prst="rect">
            <a:avLst/>
          </a:prstGeom>
          <a:noFill/>
          <a:ln>
            <a:noFill/>
          </a:ln>
        </p:spPr>
        <p:txBody>
          <a:bodyPr anchorCtr="0" anchor="t" bIns="91425" lIns="91425" spcFirstLastPara="1" rIns="91425" wrap="square" tIns="91425">
            <a:spAutoFit/>
          </a:bodyPr>
          <a:lstStyle/>
          <a:p>
            <a:pPr indent="0" lvl="0" marL="0" rtl="0" algn="l">
              <a:lnSpc>
                <a:spcPct val="146739"/>
              </a:lnSpc>
              <a:spcBef>
                <a:spcPts val="0"/>
              </a:spcBef>
              <a:spcAft>
                <a:spcPts val="0"/>
              </a:spcAft>
              <a:buNone/>
            </a:pPr>
            <a:r>
              <a:rPr lang="en" sz="1150">
                <a:solidFill>
                  <a:srgbClr val="ECEFF1"/>
                </a:solidFill>
                <a:latin typeface="Roboto Mono"/>
                <a:ea typeface="Roboto Mono"/>
                <a:cs typeface="Roboto Mono"/>
                <a:sym typeface="Roboto Mono"/>
              </a:rPr>
              <a:t>npm install msw isomorphic-fetch --save-dev</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Setting up</a:t>
            </a:r>
            <a:r>
              <a:rPr lang="en"/>
              <a:t> Mock Service Worker in our tests</a:t>
            </a:r>
            <a:endParaRPr/>
          </a:p>
        </p:txBody>
      </p:sp>
      <p:sp>
        <p:nvSpPr>
          <p:cNvPr id="113" name="Google Shape;113;p21"/>
          <p:cNvSpPr txBox="1"/>
          <p:nvPr/>
        </p:nvSpPr>
        <p:spPr>
          <a:xfrm>
            <a:off x="4427700" y="1144125"/>
            <a:ext cx="47163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import</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'isomorphic-fetch'</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F06292"/>
                </a:solidFill>
                <a:latin typeface="Roboto Mono"/>
                <a:ea typeface="Roboto Mono"/>
                <a:cs typeface="Roboto Mono"/>
                <a:sym typeface="Roboto Mono"/>
              </a:rPr>
              <a:t>// ... other test imports here ...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import</a:t>
            </a:r>
            <a:r>
              <a:rPr lang="en" sz="1050">
                <a:solidFill>
                  <a:srgbClr val="ECEFF1"/>
                </a:solidFill>
                <a:latin typeface="Roboto Mono"/>
                <a:ea typeface="Roboto Mono"/>
                <a:cs typeface="Roboto Mono"/>
                <a:sym typeface="Roboto Mono"/>
              </a:rPr>
              <a:t> { rest } </a:t>
            </a:r>
            <a:r>
              <a:rPr lang="en" sz="1050">
                <a:solidFill>
                  <a:srgbClr val="4DD0E1"/>
                </a:solidFill>
                <a:latin typeface="Roboto Mono"/>
                <a:ea typeface="Roboto Mono"/>
                <a:cs typeface="Roboto Mono"/>
                <a:sym typeface="Roboto Mono"/>
              </a:rPr>
              <a:t>from</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'msw'</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import</a:t>
            </a:r>
            <a:r>
              <a:rPr lang="en" sz="1050">
                <a:solidFill>
                  <a:srgbClr val="ECEFF1"/>
                </a:solidFill>
                <a:latin typeface="Roboto Mono"/>
                <a:ea typeface="Roboto Mono"/>
                <a:cs typeface="Roboto Mono"/>
                <a:sym typeface="Roboto Mono"/>
              </a:rPr>
              <a:t> { setupServer } </a:t>
            </a:r>
            <a:r>
              <a:rPr lang="en" sz="1050">
                <a:solidFill>
                  <a:srgbClr val="4DD0E1"/>
                </a:solidFill>
                <a:latin typeface="Roboto Mono"/>
                <a:ea typeface="Roboto Mono"/>
                <a:cs typeface="Roboto Mono"/>
                <a:sym typeface="Roboto Mono"/>
              </a:rPr>
              <a:t>from</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'msw/node'</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4DD0E1"/>
                </a:solidFill>
                <a:latin typeface="Roboto Mono"/>
                <a:ea typeface="Roboto Mono"/>
                <a:cs typeface="Roboto Mono"/>
                <a:sym typeface="Roboto Mono"/>
              </a:rPr>
              <a:t>const</a:t>
            </a:r>
            <a:r>
              <a:rPr lang="en" sz="1050">
                <a:solidFill>
                  <a:srgbClr val="ECEFF1"/>
                </a:solidFill>
                <a:latin typeface="Roboto Mono"/>
                <a:ea typeface="Roboto Mono"/>
                <a:cs typeface="Roboto Mono"/>
                <a:sym typeface="Roboto Mono"/>
              </a:rPr>
              <a:t> server = setupServer(</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rest.get(</a:t>
            </a:r>
            <a:r>
              <a:rPr lang="en" sz="1050">
                <a:solidFill>
                  <a:srgbClr val="9CCC65"/>
                </a:solidFill>
                <a:latin typeface="Roboto Mono"/>
                <a:ea typeface="Roboto Mono"/>
                <a:cs typeface="Roboto Mono"/>
                <a:sym typeface="Roboto Mono"/>
              </a:rPr>
              <a:t>`</a:t>
            </a:r>
            <a:r>
              <a:rPr lang="en" sz="1050">
                <a:solidFill>
                  <a:srgbClr val="9CCC65"/>
                </a:solidFill>
                <a:latin typeface="Roboto Mono"/>
                <a:ea typeface="Roboto Mono"/>
                <a:cs typeface="Roboto Mono"/>
                <a:sym typeface="Roboto Mono"/>
              </a:rPr>
              <a:t>http://test.com/me</a:t>
            </a:r>
            <a:r>
              <a:rPr lang="en" sz="1050">
                <a:solidFill>
                  <a:srgbClr val="9CCC65"/>
                </a:solidFill>
                <a:latin typeface="Roboto Mono"/>
                <a:ea typeface="Roboto Mono"/>
                <a:cs typeface="Roboto Mono"/>
                <a:sym typeface="Roboto Mono"/>
              </a:rPr>
              <a:t>`</a:t>
            </a:r>
            <a:r>
              <a:rPr lang="en" sz="1050">
                <a:solidFill>
                  <a:srgbClr val="ECEFF1"/>
                </a:solidFill>
                <a:latin typeface="Roboto Mono"/>
                <a:ea typeface="Roboto Mono"/>
                <a:cs typeface="Roboto Mono"/>
                <a:sym typeface="Roboto Mono"/>
              </a:rPr>
              <a:t>, (req, res, ctx) =&gt;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return</a:t>
            </a:r>
            <a:r>
              <a:rPr lang="en" sz="1050">
                <a:solidFill>
                  <a:srgbClr val="ECEFF1"/>
                </a:solidFill>
                <a:latin typeface="Roboto Mono"/>
                <a:ea typeface="Roboto Mono"/>
                <a:cs typeface="Roboto Mono"/>
                <a:sym typeface="Roboto Mono"/>
              </a:rPr>
              <a:t> res(ctx.json({</a:t>
            </a:r>
            <a:r>
              <a:rPr lang="en" sz="1050">
                <a:solidFill>
                  <a:srgbClr val="F06292"/>
                </a:solidFill>
                <a:latin typeface="Roboto Mono"/>
                <a:ea typeface="Roboto Mono"/>
                <a:cs typeface="Roboto Mono"/>
                <a:sym typeface="Roboto Mono"/>
              </a:rPr>
              <a:t>/*mock response json*/</a:t>
            </a: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F06292"/>
                </a:solidFill>
                <a:latin typeface="Roboto Mono"/>
                <a:ea typeface="Roboto Mono"/>
                <a:cs typeface="Roboto Mono"/>
                <a:sym typeface="Roboto Mono"/>
              </a:rPr>
              <a:t>// just keep adding mock "rest" as arguments</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F06292"/>
                </a:solidFill>
                <a:latin typeface="Roboto Mono"/>
                <a:ea typeface="Roboto Mono"/>
                <a:cs typeface="Roboto Mono"/>
                <a:sym typeface="Roboto Mono"/>
              </a:rPr>
              <a:t>// to setupServer if you need more requests</a:t>
            </a:r>
            <a:br>
              <a:rPr lang="en" sz="1050">
                <a:solidFill>
                  <a:srgbClr val="F06292"/>
                </a:solidFill>
                <a:latin typeface="Roboto Mono"/>
                <a:ea typeface="Roboto Mono"/>
                <a:cs typeface="Roboto Mono"/>
                <a:sym typeface="Roboto Mono"/>
              </a:rPr>
            </a:b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beforeAll(() =&gt;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server.listen(); </a:t>
            </a:r>
            <a:r>
              <a:rPr lang="en" sz="1050">
                <a:solidFill>
                  <a:srgbClr val="F06292"/>
                </a:solidFill>
                <a:latin typeface="Roboto Mono"/>
                <a:ea typeface="Roboto Mono"/>
                <a:cs typeface="Roboto Mono"/>
                <a:sym typeface="Roboto Mono"/>
              </a:rPr>
              <a:t>// run server before all tests</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afterAll(() =&gt; {</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  server.close(); </a:t>
            </a:r>
            <a:r>
              <a:rPr lang="en" sz="1050">
                <a:solidFill>
                  <a:srgbClr val="F06292"/>
                </a:solidFill>
                <a:latin typeface="Roboto Mono"/>
                <a:ea typeface="Roboto Mono"/>
                <a:cs typeface="Roboto Mono"/>
                <a:sym typeface="Roboto Mono"/>
              </a:rPr>
              <a:t>// close server before all tests</a:t>
            </a:r>
            <a:endParaRPr sz="1050">
              <a:solidFill>
                <a:srgbClr val="ECEFF1"/>
              </a:solidFill>
              <a:latin typeface="Roboto Mono"/>
              <a:ea typeface="Roboto Mono"/>
              <a:cs typeface="Roboto Mono"/>
              <a:sym typeface="Roboto Mono"/>
            </a:endParaRPr>
          </a:p>
          <a:p>
            <a:pPr indent="0" lvl="0" marL="0" rtl="0" algn="l">
              <a:spcBef>
                <a:spcPts val="0"/>
              </a:spcBef>
              <a:spcAft>
                <a:spcPts val="0"/>
              </a:spcAft>
              <a:buNone/>
            </a:pPr>
            <a:r>
              <a:rPr lang="en" sz="1050">
                <a:solidFill>
                  <a:srgbClr val="ECEFF1"/>
                </a:solidFill>
                <a:latin typeface="Roboto Mono"/>
                <a:ea typeface="Roboto Mono"/>
                <a:cs typeface="Roboto Mono"/>
                <a:sym typeface="Roboto Mono"/>
              </a:rPr>
              <a:t>});</a:t>
            </a:r>
            <a:endParaRPr sz="1050">
              <a:solidFill>
                <a:srgbClr val="ECEFF1"/>
              </a:solidFill>
              <a:latin typeface="Roboto Mono"/>
              <a:ea typeface="Roboto Mono"/>
              <a:cs typeface="Roboto Mono"/>
              <a:sym typeface="Roboto Mono"/>
            </a:endParaRPr>
          </a:p>
          <a:p>
            <a:pPr indent="0" lvl="0" marL="0" rtl="0" algn="l">
              <a:lnSpc>
                <a:spcPct val="146739"/>
              </a:lnSpc>
              <a:spcBef>
                <a:spcPts val="0"/>
              </a:spcBef>
              <a:spcAft>
                <a:spcPts val="0"/>
              </a:spcAft>
              <a:buNone/>
            </a:pPr>
            <a:r>
              <a:rPr lang="en" sz="1050">
                <a:solidFill>
                  <a:srgbClr val="F06292"/>
                </a:solidFill>
                <a:latin typeface="Roboto Mono"/>
                <a:ea typeface="Roboto Mono"/>
                <a:cs typeface="Roboto Mono"/>
                <a:sym typeface="Roboto Mono"/>
              </a:rPr>
              <a:t>// ... tests below using jest here! ....</a:t>
            </a:r>
            <a:endParaRPr sz="1050">
              <a:solidFill>
                <a:srgbClr val="F06292"/>
              </a:solidFill>
              <a:latin typeface="Roboto Mono"/>
              <a:ea typeface="Roboto Mono"/>
              <a:cs typeface="Roboto Mono"/>
              <a:sym typeface="Roboto Mono"/>
            </a:endParaRPr>
          </a:p>
        </p:txBody>
      </p:sp>
      <p:sp>
        <p:nvSpPr>
          <p:cNvPr id="114" name="Google Shape;114;p21"/>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you have your msw and isomorphic-fetch installed you can set up your server in either a separate file to your tests or in the same file (shown on the right).</a:t>
            </a:r>
            <a:endParaRPr/>
          </a:p>
          <a:p>
            <a:pPr indent="0" lvl="0" marL="0" rtl="0" algn="l">
              <a:spcBef>
                <a:spcPts val="1600"/>
              </a:spcBef>
              <a:spcAft>
                <a:spcPts val="0"/>
              </a:spcAft>
              <a:buNone/>
            </a:pPr>
            <a:r>
              <a:rPr lang="en"/>
              <a:t>The important thing is that you start your server beforeAll of the tests and close it after all of the tests.</a:t>
            </a:r>
            <a:endParaRPr/>
          </a:p>
          <a:p>
            <a:pPr indent="0" lvl="0" marL="0" rtl="0" algn="l">
              <a:spcBef>
                <a:spcPts val="1600"/>
              </a:spcBef>
              <a:spcAft>
                <a:spcPts val="1600"/>
              </a:spcAft>
              <a:buNone/>
            </a:pPr>
            <a:r>
              <a:rPr lang="en"/>
              <a:t>After this is set up you can test your applications just like we did last class.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Testing </a:t>
            </a:r>
            <a:r>
              <a:rPr lang="en"/>
              <a:t>Example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 </a:t>
            </a:r>
            <a:endParaRPr/>
          </a:p>
        </p:txBody>
      </p:sp>
      <p:sp>
        <p:nvSpPr>
          <p:cNvPr id="125" name="Google Shape;125;p23"/>
          <p:cNvSpPr txBox="1"/>
          <p:nvPr>
            <p:ph idx="1" type="body"/>
          </p:nvPr>
        </p:nvSpPr>
        <p:spPr>
          <a:xfrm>
            <a:off x="387900" y="1289999"/>
            <a:ext cx="8368200" cy="3078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Next.js testing</a:t>
            </a:r>
            <a:br>
              <a:rPr lang="en" sz="1200"/>
            </a:br>
            <a:r>
              <a:rPr lang="en" sz="1200" u="sng">
                <a:solidFill>
                  <a:schemeClr val="hlink"/>
                </a:solidFill>
                <a:hlinkClick r:id="rId3"/>
              </a:rPr>
              <a:t>https://nextjs.org/docs/testing#jest-and-react-testing-library</a:t>
            </a:r>
            <a:r>
              <a:rPr lang="en" sz="1200"/>
              <a:t> </a:t>
            </a:r>
            <a:endParaRPr sz="1200"/>
          </a:p>
          <a:p>
            <a:pPr indent="-304800" lvl="0" marL="457200" rtl="0" algn="l">
              <a:spcBef>
                <a:spcPts val="0"/>
              </a:spcBef>
              <a:spcAft>
                <a:spcPts val="0"/>
              </a:spcAft>
              <a:buSzPts val="1200"/>
              <a:buChar char="●"/>
            </a:pPr>
            <a:r>
              <a:rPr lang="en" sz="1200"/>
              <a:t>Mock Service Worker</a:t>
            </a:r>
            <a:br>
              <a:rPr lang="en" sz="1200"/>
            </a:br>
            <a:r>
              <a:rPr lang="en" sz="1200" u="sng">
                <a:solidFill>
                  <a:schemeClr val="hlink"/>
                </a:solidFill>
                <a:hlinkClick r:id="rId4"/>
              </a:rPr>
              <a:t>https://mswjs.io/docs/getting-started</a:t>
            </a:r>
            <a:endParaRPr sz="1200"/>
          </a:p>
          <a:p>
            <a:pPr indent="-304800" lvl="0" marL="457200" rtl="0" algn="l">
              <a:spcBef>
                <a:spcPts val="0"/>
              </a:spcBef>
              <a:spcAft>
                <a:spcPts val="0"/>
              </a:spcAft>
              <a:buSzPts val="1200"/>
              <a:buChar char="●"/>
            </a:pPr>
            <a:r>
              <a:rPr lang="en" sz="1200"/>
              <a:t>Isomorphic Fetch</a:t>
            </a:r>
            <a:br>
              <a:rPr lang="en" sz="1200"/>
            </a:br>
            <a:r>
              <a:rPr lang="en" sz="1200" u="sng">
                <a:solidFill>
                  <a:schemeClr val="hlink"/>
                </a:solidFill>
                <a:hlinkClick r:id="rId5"/>
              </a:rPr>
              <a:t>https://github.com/matthew-andrews/isomorphic-fetch</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